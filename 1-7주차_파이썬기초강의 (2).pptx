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73"/>
  </p:notesMasterIdLst>
  <p:handoutMasterIdLst>
    <p:handoutMasterId r:id="rId74"/>
  </p:handoutMasterIdLst>
  <p:sldIdLst>
    <p:sldId id="433" r:id="rId2"/>
    <p:sldId id="329" r:id="rId3"/>
    <p:sldId id="334" r:id="rId4"/>
    <p:sldId id="337" r:id="rId5"/>
    <p:sldId id="338" r:id="rId6"/>
    <p:sldId id="340" r:id="rId7"/>
    <p:sldId id="346" r:id="rId8"/>
    <p:sldId id="434" r:id="rId9"/>
    <p:sldId id="348" r:id="rId10"/>
    <p:sldId id="351" r:id="rId11"/>
    <p:sldId id="352" r:id="rId12"/>
    <p:sldId id="370" r:id="rId13"/>
    <p:sldId id="371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3" r:id="rId22"/>
    <p:sldId id="384" r:id="rId23"/>
    <p:sldId id="385" r:id="rId24"/>
    <p:sldId id="386" r:id="rId25"/>
    <p:sldId id="387" r:id="rId26"/>
    <p:sldId id="388" r:id="rId27"/>
    <p:sldId id="389" r:id="rId28"/>
    <p:sldId id="390" r:id="rId29"/>
    <p:sldId id="391" r:id="rId30"/>
    <p:sldId id="392" r:id="rId31"/>
    <p:sldId id="393" r:id="rId32"/>
    <p:sldId id="394" r:id="rId33"/>
    <p:sldId id="395" r:id="rId34"/>
    <p:sldId id="396" r:id="rId35"/>
    <p:sldId id="397" r:id="rId36"/>
    <p:sldId id="398" r:id="rId37"/>
    <p:sldId id="399" r:id="rId38"/>
    <p:sldId id="400" r:id="rId39"/>
    <p:sldId id="401" r:id="rId40"/>
    <p:sldId id="402" r:id="rId41"/>
    <p:sldId id="403" r:id="rId42"/>
    <p:sldId id="404" r:id="rId43"/>
    <p:sldId id="405" r:id="rId44"/>
    <p:sldId id="406" r:id="rId45"/>
    <p:sldId id="407" r:id="rId46"/>
    <p:sldId id="408" r:id="rId47"/>
    <p:sldId id="409" r:id="rId48"/>
    <p:sldId id="410" r:id="rId49"/>
    <p:sldId id="411" r:id="rId50"/>
    <p:sldId id="412" r:id="rId51"/>
    <p:sldId id="413" r:id="rId52"/>
    <p:sldId id="414" r:id="rId53"/>
    <p:sldId id="415" r:id="rId54"/>
    <p:sldId id="416" r:id="rId55"/>
    <p:sldId id="417" r:id="rId56"/>
    <p:sldId id="418" r:id="rId57"/>
    <p:sldId id="419" r:id="rId58"/>
    <p:sldId id="420" r:id="rId59"/>
    <p:sldId id="421" r:id="rId60"/>
    <p:sldId id="422" r:id="rId61"/>
    <p:sldId id="435" r:id="rId62"/>
    <p:sldId id="423" r:id="rId63"/>
    <p:sldId id="424" r:id="rId64"/>
    <p:sldId id="425" r:id="rId65"/>
    <p:sldId id="426" r:id="rId66"/>
    <p:sldId id="427" r:id="rId67"/>
    <p:sldId id="428" r:id="rId68"/>
    <p:sldId id="429" r:id="rId69"/>
    <p:sldId id="430" r:id="rId70"/>
    <p:sldId id="431" r:id="rId71"/>
    <p:sldId id="432" r:id="rId7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iga" initials="a" lastIdx="9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46D"/>
    <a:srgbClr val="415783"/>
    <a:srgbClr val="4F784C"/>
    <a:srgbClr val="FFFF99"/>
    <a:srgbClr val="9933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4" autoAdjust="0"/>
    <p:restoredTop sz="90899" autoAdjust="0"/>
  </p:normalViewPr>
  <p:slideViewPr>
    <p:cSldViewPr>
      <p:cViewPr varScale="1">
        <p:scale>
          <a:sx n="81" d="100"/>
          <a:sy n="81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0" d="100"/>
          <a:sy n="90" d="100"/>
        </p:scale>
        <p:origin x="3696" y="72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7C3E9-2372-4D2D-A8FE-578D26F0CAB8}" type="datetimeFigureOut">
              <a:rPr lang="ko-KR" altLang="en-US" smtClean="0"/>
              <a:pPr/>
              <a:t>2025-09-30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126D6-8CEA-47E8-B467-8C3047BBCAC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407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C3899-2E4F-4D3A-8D29-BF4BDDE21DE2}" type="datetimeFigureOut">
              <a:rPr lang="ko-KR" altLang="en-US" smtClean="0"/>
              <a:pPr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363BF-43B7-4F43-ABD0-D052F59FCD1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480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737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107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908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361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10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088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6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9363BF-43B7-4F43-ABD0-D052F59FCD18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65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-63515" y="-8316"/>
            <a:ext cx="9207514" cy="6866316"/>
            <a:chOff x="250985" y="267478"/>
            <a:chExt cx="9148832" cy="6866316"/>
          </a:xfrm>
        </p:grpSpPr>
        <p:sp>
          <p:nvSpPr>
            <p:cNvPr id="6" name="직사각형 5"/>
            <p:cNvSpPr/>
            <p:nvPr userDrawn="1"/>
          </p:nvSpPr>
          <p:spPr>
            <a:xfrm>
              <a:off x="250985" y="267478"/>
              <a:ext cx="3991768" cy="6866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pic>
          <p:nvPicPr>
            <p:cNvPr id="7" name="Picture 2" descr="C:\Users\박희숙\Desktop\캡처1.JPG"/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" t="6280" b="89802"/>
            <a:stretch/>
          </p:blipFill>
          <p:spPr bwMode="auto">
            <a:xfrm rot="5400000">
              <a:off x="-2990482" y="3508945"/>
              <a:ext cx="6856794" cy="373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직사각형 24"/>
            <p:cNvSpPr/>
            <p:nvPr userDrawn="1"/>
          </p:nvSpPr>
          <p:spPr>
            <a:xfrm>
              <a:off x="3481346" y="267478"/>
              <a:ext cx="5918471" cy="68663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5705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박희숙\Desktop\캡처1.JPG"/>
          <p:cNvPicPr>
            <a:picLocks noChangeAspect="1" noChangeArrowheads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" t="6280" b="89802"/>
          <a:stretch/>
        </p:blipFill>
        <p:spPr bwMode="auto">
          <a:xfrm rot="10800000">
            <a:off x="0" y="4464115"/>
            <a:ext cx="9144000" cy="239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/>
          <p:cNvSpPr/>
          <p:nvPr userDrawn="1"/>
        </p:nvSpPr>
        <p:spPr>
          <a:xfrm>
            <a:off x="0" y="-8316"/>
            <a:ext cx="9144000" cy="28972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466655" y="3311297"/>
            <a:ext cx="7335815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 b="0" i="0" baseline="0">
                <a:solidFill>
                  <a:schemeClr val="tx2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/>
            <a:r>
              <a:rPr lang="ko-KR" altLang="en-US" noProof="0" smtClean="0"/>
              <a:t>절제목</a:t>
            </a:r>
            <a:endParaRPr lang="en-US" altLang="ko-KR" noProof="0" dirty="0" smtClean="0"/>
          </a:p>
        </p:txBody>
      </p:sp>
    </p:spTree>
    <p:extLst>
      <p:ext uri="{BB962C8B-B14F-4D97-AF65-F5344CB8AC3E}">
        <p14:creationId xmlns:p14="http://schemas.microsoft.com/office/powerpoint/2010/main" val="11929357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ectangle 43"/>
          <p:cNvSpPr>
            <a:spLocks noChangeArrowheads="1"/>
          </p:cNvSpPr>
          <p:nvPr userDrawn="1"/>
        </p:nvSpPr>
        <p:spPr bwMode="gray">
          <a:xfrm>
            <a:off x="8410574" y="6643688"/>
            <a:ext cx="733425" cy="2159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bg1">
                  <a:lumMod val="75000"/>
                  <a:tint val="23500"/>
                  <a:satMod val="160000"/>
                  <a:alpha val="0"/>
                </a:schemeClr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latinLnBrk="0">
              <a:defRPr/>
            </a:pPr>
            <a:endParaRPr kumimoji="0" lang="ko-KR" altLang="en-US" sz="3000" dirty="0">
              <a:solidFill>
                <a:srgbClr val="005E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8279259" y="6605588"/>
            <a:ext cx="842962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fld id="{048473F8-2F3F-4CC2-BF55-F7E080802650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pPr algn="r">
                <a:defRPr/>
              </a:pPr>
              <a:t>‹#›</a:t>
            </a:fld>
            <a:r>
              <a:rPr lang="en-US" altLang="ko-KR" sz="1200" dirty="0" smtClean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/50</a:t>
            </a:r>
            <a:endParaRPr lang="en-US" altLang="ko-KR" sz="1200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</p:spPr>
        <p:txBody>
          <a:bodyPr>
            <a:noAutofit/>
          </a:bodyPr>
          <a:lstStyle>
            <a:lvl1pPr algn="l">
              <a:defRPr sz="26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63501" y="773705"/>
            <a:ext cx="8963994" cy="5669958"/>
          </a:xfrm>
        </p:spPr>
        <p:txBody>
          <a:bodyPr>
            <a:normAutofit/>
          </a:bodyPr>
          <a:lstStyle>
            <a:lvl1pPr marL="355600" indent="-2619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SzPct val="130000"/>
              <a:buFont typeface="Wingdings" panose="05000000000000000000" pitchFamily="2" charset="2"/>
              <a:buChar char="§"/>
              <a:defRPr sz="2000" b="1"/>
            </a:lvl1pPr>
            <a:lvl2pPr marL="627063" indent="-169863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Wingdings" panose="05000000000000000000" pitchFamily="2" charset="2"/>
              <a:buChar char="§"/>
              <a:defRPr sz="1600"/>
            </a:lvl2pPr>
            <a:lvl3pPr marL="8048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•"/>
              <a:defRPr sz="1400"/>
            </a:lvl3pPr>
            <a:lvl4pPr marL="982663" indent="-177800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맑은 고딕" panose="020B0503020000020004" pitchFamily="50" charset="-127"/>
              <a:buChar char="-"/>
              <a:defRPr sz="1200"/>
            </a:lvl4pPr>
            <a:lvl5pPr marL="1168400" indent="-185738">
              <a:lnSpc>
                <a:spcPct val="150000"/>
              </a:lnSpc>
              <a:buClr>
                <a:schemeClr val="accent5">
                  <a:lumMod val="50000"/>
                </a:schemeClr>
              </a:buClr>
              <a:buFont typeface="Arial" panose="020B0604020202020204" pitchFamily="34" charset="0"/>
              <a:buChar char="»"/>
              <a:defRPr sz="10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2306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  <p:custDataLst>
              <p:tags r:id="rId1"/>
            </p:custDataLst>
          </p:nvPr>
        </p:nvSpPr>
        <p:spPr>
          <a:xfrm>
            <a:off x="139700" y="6525345"/>
            <a:ext cx="8756650" cy="280046"/>
          </a:xfrm>
          <a:prstGeom prst="rect">
            <a:avLst/>
          </a:prstGeom>
        </p:spPr>
        <p:txBody>
          <a:bodyPr/>
          <a:lstStyle>
            <a:lvl1pPr>
              <a:defRPr b="1" i="1"/>
            </a:lvl1pPr>
          </a:lstStyle>
          <a:p>
            <a:pPr latinLnBrk="0"/>
            <a:fld id="{926EA8F1-C76B-4BC6-98C4-C2D2384EDDB7}" type="slidenum">
              <a:rPr lang="en-US" altLang="ko-KR" kern="0" smtClean="0">
                <a:latin typeface="Verdana"/>
              </a:rPr>
              <a:pPr latinLnBrk="0"/>
              <a:t>‹#›</a:t>
            </a:fld>
            <a:endParaRPr lang="en-US" altLang="ko-KR" kern="0" dirty="0">
              <a:latin typeface="Verdana"/>
            </a:endParaRPr>
          </a:p>
        </p:txBody>
      </p:sp>
      <p:sp>
        <p:nvSpPr>
          <p:cNvPr id="9" name="AutoShap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6" name="AutoShape 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Line 5"/>
          <p:cNvSpPr>
            <a:spLocks noChangeShapeType="1"/>
          </p:cNvSpPr>
          <p:nvPr userDrawn="1">
            <p:custDataLst>
              <p:tags r:id="rId5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Text Box 4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429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A8B-F673-4001-8A39-04FCB6CD285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36575"/>
            <a:ext cx="8458200" cy="277978"/>
          </a:xfrm>
        </p:spPr>
        <p:txBody>
          <a:bodyPr>
            <a:noAutofit/>
          </a:bodyPr>
          <a:lstStyle>
            <a:lvl1pPr>
              <a:defRPr sz="1600"/>
            </a:lvl1pPr>
          </a:lstStyle>
          <a:p>
            <a:endParaRPr lang="en-US"/>
          </a:p>
        </p:txBody>
      </p:sp>
      <p:sp>
        <p:nvSpPr>
          <p:cNvPr id="4" name="Rectangle 440"/>
          <p:cNvSpPr>
            <a:spLocks noChangeArrowheads="1"/>
          </p:cNvSpPr>
          <p:nvPr userDrawn="1"/>
        </p:nvSpPr>
        <p:spPr bwMode="invGray">
          <a:xfrm>
            <a:off x="0" y="-22448"/>
            <a:ext cx="9144000" cy="5558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lvl="0" algn="ctr">
              <a:spcBef>
                <a:spcPct val="20000"/>
              </a:spcBef>
            </a:pPr>
            <a:endParaRPr lang="ko-KR" altLang="en-US" sz="3200" dirty="0">
              <a:solidFill>
                <a:srgbClr val="481C1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749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B2FD9B6-DC5A-4644-B01F-335E6DD2CDD1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6BC740F2-65F4-46F1-8462-F5CEAE10BBF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358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2" r:id="rId3"/>
    <p:sldLayoutId id="2147483681" r:id="rId4"/>
    <p:sldLayoutId id="2147483697" r:id="rId5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obug5@daum.ne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26595" y="3023955"/>
            <a:ext cx="7335815" cy="1260140"/>
          </a:xfrm>
        </p:spPr>
        <p:txBody>
          <a:bodyPr/>
          <a:lstStyle/>
          <a:p>
            <a:r>
              <a:rPr lang="ko-KR" altLang="en-US" sz="5400" dirty="0" err="1" smtClean="0"/>
              <a:t>파이썬</a:t>
            </a:r>
            <a:r>
              <a:rPr lang="en-US" altLang="ko-KR" sz="5400" dirty="0" smtClean="0"/>
              <a:t>(Python)</a:t>
            </a:r>
            <a:r>
              <a:rPr lang="ko-KR" altLang="en-US" sz="5400" dirty="0" smtClean="0"/>
              <a:t> 기초</a:t>
            </a:r>
            <a:endParaRPr lang="ko-KR" altLang="en-US" sz="5400" dirty="0"/>
          </a:p>
        </p:txBody>
      </p:sp>
      <p:sp>
        <p:nvSpPr>
          <p:cNvPr id="3" name="부제목 3"/>
          <p:cNvSpPr txBox="1">
            <a:spLocks/>
          </p:cNvSpPr>
          <p:nvPr/>
        </p:nvSpPr>
        <p:spPr>
          <a:xfrm>
            <a:off x="4301970" y="4734145"/>
            <a:ext cx="392048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dirty="0" err="1" smtClean="0"/>
              <a:t>성결대학교</a:t>
            </a:r>
            <a:r>
              <a:rPr lang="ko-KR" altLang="en-US" sz="2000" dirty="0" smtClean="0"/>
              <a:t> </a:t>
            </a:r>
            <a:r>
              <a:rPr lang="ko-KR" altLang="en-US" sz="2000" dirty="0" err="1" smtClean="0"/>
              <a:t>파이데이아학부</a:t>
            </a:r>
            <a:endParaRPr lang="en-US" altLang="ko-KR" sz="2000" dirty="0" smtClean="0"/>
          </a:p>
          <a:p>
            <a:pPr marL="0" indent="0" algn="ctr">
              <a:buNone/>
            </a:pPr>
            <a:r>
              <a:rPr lang="en-US" altLang="ko-KR" sz="2000" smtClean="0">
                <a:hlinkClick r:id="rId2"/>
              </a:rPr>
              <a:t>nobug5@naver.com</a:t>
            </a:r>
            <a:endParaRPr lang="en-US" altLang="ko-KR" sz="2000" dirty="0" smtClean="0"/>
          </a:p>
          <a:p>
            <a:pPr marL="0" indent="0" algn="ctr">
              <a:buNone/>
            </a:pPr>
            <a:r>
              <a:rPr lang="en-US" altLang="ko-KR" sz="2000" dirty="0" smtClean="0"/>
              <a:t>(mobile:010-7514-2697)</a:t>
            </a:r>
          </a:p>
          <a:p>
            <a:pPr marL="0" indent="0" algn="ctr">
              <a:buNone/>
            </a:pPr>
            <a:r>
              <a:rPr lang="ko-KR" altLang="en-US" sz="2000" dirty="0" smtClean="0"/>
              <a:t>전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진 오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3622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095" y="1088740"/>
            <a:ext cx="3108543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000" b="1" spc="-15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Chapter</a:t>
            </a:r>
            <a:r>
              <a:rPr lang="en-US" altLang="ko-KR" sz="40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</a:t>
            </a:r>
            <a:r>
              <a:rPr lang="en-US" altLang="ko-KR" sz="66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01</a:t>
            </a:r>
          </a:p>
          <a:p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변수와 데이터</a:t>
            </a:r>
            <a:endParaRPr lang="ko-KR" altLang="en-US" sz="5400" b="1" spc="-30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50776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print( )</a:t>
            </a:r>
            <a:r>
              <a:rPr lang="ko-KR" altLang="en-US" spc="-150" dirty="0"/>
              <a:t>의 </a:t>
            </a:r>
            <a:r>
              <a:rPr lang="ko-KR" altLang="en-US" spc="-150" dirty="0" smtClean="0"/>
              <a:t>서식을 지정해봅시다</a:t>
            </a:r>
            <a:r>
              <a:rPr lang="en-US" altLang="ko-KR" spc="-150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smtClean="0"/>
              <a:t>서식을 지원하는 </a:t>
            </a:r>
            <a:r>
              <a:rPr lang="en-US" altLang="ko-KR" dirty="0" smtClean="0"/>
              <a:t>print</a:t>
            </a:r>
            <a:r>
              <a:rPr lang="en-US" altLang="ko-KR" dirty="0"/>
              <a:t>( ) </a:t>
            </a:r>
            <a:r>
              <a:rPr lang="ko-KR" altLang="en-US" dirty="0" smtClean="0"/>
              <a:t>함수 사용법</a:t>
            </a:r>
            <a:endParaRPr lang="en-US" altLang="ko-KR" dirty="0" smtClean="0"/>
          </a:p>
          <a:p>
            <a:pPr lvl="1"/>
            <a:r>
              <a:rPr lang="ko-KR" altLang="en-US" dirty="0"/>
              <a:t>서식은 앞에 </a:t>
            </a:r>
            <a:r>
              <a:rPr lang="en-US" altLang="ko-KR" dirty="0"/>
              <a:t>%</a:t>
            </a:r>
            <a:r>
              <a:rPr lang="ko-KR" altLang="en-US" dirty="0"/>
              <a:t>가 </a:t>
            </a:r>
            <a:r>
              <a:rPr lang="ko-KR" altLang="en-US" dirty="0" smtClean="0"/>
              <a:t>붙음</a:t>
            </a:r>
            <a:r>
              <a:rPr lang="en-US" altLang="ko-KR" dirty="0"/>
              <a:t>. %d</a:t>
            </a:r>
            <a:r>
              <a:rPr lang="ko-KR" altLang="en-US" dirty="0"/>
              <a:t>는 정수</a:t>
            </a:r>
            <a:r>
              <a:rPr lang="en-US" altLang="ko-KR" dirty="0"/>
              <a:t>(Decimal)</a:t>
            </a:r>
            <a:r>
              <a:rPr lang="ko-KR" altLang="en-US" dirty="0"/>
              <a:t>를 </a:t>
            </a:r>
            <a:r>
              <a:rPr lang="ko-KR" altLang="en-US" dirty="0" smtClean="0"/>
              <a:t>의미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 </a:t>
            </a:r>
            <a:r>
              <a:rPr lang="ko-KR" altLang="en-US" dirty="0" smtClean="0">
                <a:sym typeface="Wingdings" panose="05000000000000000000" pitchFamily="2" charset="2"/>
              </a:rPr>
              <a:t>안녕하세요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 </a:t>
            </a:r>
          </a:p>
          <a:p>
            <a:pPr marL="457200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  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 </a:t>
            </a:r>
            <a:r>
              <a:rPr lang="ko-KR" altLang="en-US" dirty="0" smtClean="0">
                <a:sym typeface="Wingdings" panose="05000000000000000000" pitchFamily="2" charset="2"/>
              </a:rPr>
              <a:t>글자 </a:t>
            </a:r>
            <a:r>
              <a:rPr lang="en-US" altLang="ko-KR" dirty="0">
                <a:sym typeface="Wingdings" panose="05000000000000000000" pitchFamily="2" charset="2"/>
              </a:rPr>
              <a:t>100(</a:t>
            </a:r>
            <a:r>
              <a:rPr lang="ko-KR" altLang="en-US" dirty="0" err="1">
                <a:sym typeface="Wingdings" panose="05000000000000000000" pitchFamily="2" charset="2"/>
              </a:rPr>
              <a:t>일영영</a:t>
            </a:r>
            <a:r>
              <a:rPr lang="en-US" altLang="ko-KR" dirty="0" smtClean="0">
                <a:sym typeface="Wingdings" panose="05000000000000000000" pitchFamily="2" charset="2"/>
              </a:rPr>
              <a:t>)</a:t>
            </a:r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   </a:t>
            </a:r>
            <a:r>
              <a:rPr lang="ko-KR" altLang="en-US" dirty="0">
                <a:sym typeface="Wingdings" panose="05000000000000000000" pitchFamily="2" charset="2"/>
              </a:rPr>
              <a:t>숫자 </a:t>
            </a:r>
            <a:r>
              <a:rPr lang="en-US" altLang="ko-KR" dirty="0" smtClean="0">
                <a:sym typeface="Wingdings" panose="05000000000000000000" pitchFamily="2" charset="2"/>
              </a:rPr>
              <a:t>100</a:t>
            </a:r>
          </a:p>
          <a:p>
            <a:pPr marL="457200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      </a:t>
            </a:r>
            <a:r>
              <a:rPr lang="ko-KR" altLang="en-US" dirty="0" smtClean="0">
                <a:sym typeface="Wingdings" panose="05000000000000000000" pitchFamily="2" charset="2"/>
              </a:rPr>
              <a:t>글자 </a:t>
            </a:r>
            <a:r>
              <a:rPr lang="en-US" altLang="ko-KR" dirty="0" smtClean="0">
                <a:sym typeface="Wingdings" panose="05000000000000000000" pitchFamily="2" charset="2"/>
              </a:rPr>
              <a:t>100+100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       </a:t>
            </a:r>
            <a:r>
              <a:rPr lang="ko-KR" altLang="en-US" dirty="0">
                <a:sym typeface="Wingdings" panose="05000000000000000000" pitchFamily="2" charset="2"/>
              </a:rPr>
              <a:t>숫자 </a:t>
            </a:r>
            <a:r>
              <a:rPr lang="en-US" altLang="ko-KR" dirty="0" smtClean="0">
                <a:sym typeface="Wingdings" panose="05000000000000000000" pitchFamily="2" charset="2"/>
              </a:rPr>
              <a:t>200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06" y="1943835"/>
            <a:ext cx="76771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06" y="3068207"/>
            <a:ext cx="77057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206" y="4824155"/>
            <a:ext cx="76771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927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print( )</a:t>
            </a:r>
            <a:r>
              <a:rPr lang="ko-KR" altLang="en-US" spc="-150" dirty="0"/>
              <a:t>의 </a:t>
            </a:r>
            <a:r>
              <a:rPr lang="ko-KR" altLang="en-US" spc="-150" dirty="0" smtClean="0"/>
              <a:t>서식을 지정해봅시다</a:t>
            </a:r>
            <a:r>
              <a:rPr lang="en-US" altLang="ko-KR" spc="-150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서식의 개수와 </a:t>
            </a:r>
            <a:r>
              <a:rPr lang="en-US" altLang="ko-KR" dirty="0" smtClean="0"/>
              <a:t>% </a:t>
            </a:r>
            <a:r>
              <a:rPr lang="ko-KR" altLang="en-US" dirty="0" smtClean="0"/>
              <a:t>뒤에 </a:t>
            </a:r>
            <a:r>
              <a:rPr lang="ko-KR" altLang="en-US" dirty="0"/>
              <a:t>나오는 숫자</a:t>
            </a:r>
            <a:r>
              <a:rPr lang="en-US" altLang="ko-KR" dirty="0"/>
              <a:t>(</a:t>
            </a:r>
            <a:r>
              <a:rPr lang="ko-KR" altLang="en-US" dirty="0"/>
              <a:t>또는 문자</a:t>
            </a:r>
            <a:r>
              <a:rPr lang="en-US" altLang="ko-KR" dirty="0"/>
              <a:t>)</a:t>
            </a:r>
            <a:r>
              <a:rPr lang="ko-KR" altLang="en-US" dirty="0"/>
              <a:t>의 개수가 </a:t>
            </a:r>
            <a:r>
              <a:rPr lang="ko-KR" altLang="en-US" dirty="0" smtClean="0"/>
              <a:t>같아야 함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>
                <a:sym typeface="Wingdings" panose="05000000000000000000" pitchFamily="2" charset="2"/>
              </a:rPr>
              <a:t>   </a:t>
            </a:r>
            <a:r>
              <a:rPr lang="ko-KR" altLang="en-US" dirty="0" smtClean="0">
                <a:sym typeface="Wingdings" panose="05000000000000000000" pitchFamily="2" charset="2"/>
              </a:rPr>
              <a:t>오류발생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 smtClean="0"/>
              <a:t>      </a:t>
            </a:r>
            <a:r>
              <a:rPr lang="ko-KR" altLang="en-US" dirty="0"/>
              <a:t>첫 번째 행에는 </a:t>
            </a:r>
            <a:r>
              <a:rPr lang="en-US" altLang="ko-KR" dirty="0"/>
              <a:t>%d</a:t>
            </a:r>
            <a:r>
              <a:rPr lang="ko-KR" altLang="en-US" dirty="0"/>
              <a:t>가 하나밖에 없는데 숫자는 두 개</a:t>
            </a:r>
            <a:r>
              <a:rPr lang="en-US" altLang="ko-KR" dirty="0"/>
              <a:t>(100, 200)</a:t>
            </a:r>
            <a:r>
              <a:rPr lang="ko-KR" altLang="en-US" dirty="0"/>
              <a:t>가 나왔고</a:t>
            </a:r>
            <a:r>
              <a:rPr lang="en-US" altLang="ko-KR" dirty="0"/>
              <a:t>, </a:t>
            </a:r>
            <a:r>
              <a:rPr lang="ko-KR" altLang="en-US" dirty="0"/>
              <a:t>두 </a:t>
            </a:r>
            <a:r>
              <a:rPr lang="ko-KR" altLang="en-US" dirty="0" smtClean="0"/>
              <a:t>번 째 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 smtClean="0"/>
              <a:t>행에는 </a:t>
            </a:r>
            <a:r>
              <a:rPr lang="en-US" altLang="ko-KR" dirty="0"/>
              <a:t>%d</a:t>
            </a:r>
            <a:r>
              <a:rPr lang="ko-KR" altLang="en-US" dirty="0"/>
              <a:t>가 두 개인데</a:t>
            </a:r>
            <a:r>
              <a:rPr lang="en-US" altLang="ko-KR" dirty="0"/>
              <a:t>, </a:t>
            </a:r>
            <a:r>
              <a:rPr lang="ko-KR" altLang="en-US" dirty="0"/>
              <a:t>숫자는 하나</a:t>
            </a:r>
            <a:r>
              <a:rPr lang="en-US" altLang="ko-KR" dirty="0"/>
              <a:t>(100)</a:t>
            </a:r>
            <a:r>
              <a:rPr lang="ko-KR" altLang="en-US" dirty="0"/>
              <a:t>밖에 나오지 </a:t>
            </a:r>
            <a:r>
              <a:rPr lang="ko-KR" altLang="en-US" dirty="0" smtClean="0"/>
              <a:t>않음</a:t>
            </a:r>
            <a:endParaRPr lang="en-US" altLang="ko-KR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34" y="1448780"/>
            <a:ext cx="76962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34" y="4350870"/>
            <a:ext cx="385762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075" y="5589240"/>
            <a:ext cx="13620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4996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print( )</a:t>
            </a:r>
            <a:r>
              <a:rPr lang="ko-KR" altLang="en-US" spc="-150" dirty="0"/>
              <a:t>의 </a:t>
            </a:r>
            <a:r>
              <a:rPr lang="ko-KR" altLang="en-US" spc="-150" dirty="0" smtClean="0"/>
              <a:t>서식을 지정해봅시다</a:t>
            </a:r>
            <a:r>
              <a:rPr lang="en-US" altLang="ko-KR" spc="-150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정수</a:t>
            </a:r>
            <a:r>
              <a:rPr lang="en-US" altLang="ko-KR" dirty="0"/>
              <a:t>(%d) </a:t>
            </a:r>
            <a:r>
              <a:rPr lang="ko-KR" altLang="en-US" dirty="0" smtClean="0"/>
              <a:t>외에 자주 사용되는 서식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en-US" altLang="ko-KR" dirty="0" smtClean="0"/>
              <a:t>100/200=0.5</a:t>
            </a:r>
            <a:r>
              <a:rPr lang="ko-KR" altLang="en-US" dirty="0"/>
              <a:t> </a:t>
            </a:r>
            <a:r>
              <a:rPr lang="ko-KR" altLang="en-US" dirty="0" smtClean="0"/>
              <a:t>가 아닌 </a:t>
            </a:r>
            <a:r>
              <a:rPr lang="en-US" altLang="ko-KR" dirty="0" smtClean="0"/>
              <a:t>100/200=0</a:t>
            </a:r>
            <a:r>
              <a:rPr lang="ko-KR" altLang="en-US" dirty="0"/>
              <a:t> </a:t>
            </a:r>
            <a:r>
              <a:rPr lang="ko-KR" altLang="en-US" dirty="0" smtClean="0"/>
              <a:t>이 나옴</a:t>
            </a:r>
            <a:r>
              <a:rPr lang="en-US" altLang="ko-KR" dirty="0" smtClean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 </a:t>
            </a:r>
            <a:r>
              <a:rPr lang="ko-KR" altLang="en-US" dirty="0"/>
              <a:t>세 번째 숫자 </a:t>
            </a:r>
            <a:r>
              <a:rPr lang="en-US" altLang="ko-KR" dirty="0"/>
              <a:t>0.5</a:t>
            </a:r>
            <a:r>
              <a:rPr lang="ko-KR" altLang="en-US" dirty="0"/>
              <a:t>는 실수</a:t>
            </a:r>
            <a:r>
              <a:rPr lang="en-US" altLang="ko-KR" dirty="0"/>
              <a:t>(</a:t>
            </a:r>
            <a:r>
              <a:rPr lang="ko-KR" altLang="en-US" dirty="0"/>
              <a:t>소수점이 있는 수</a:t>
            </a:r>
            <a:r>
              <a:rPr lang="en-US" altLang="ko-KR" dirty="0"/>
              <a:t>)</a:t>
            </a:r>
            <a:r>
              <a:rPr lang="ko-KR" altLang="en-US" dirty="0"/>
              <a:t>이지만 보여주는 방식이 </a:t>
            </a:r>
            <a:r>
              <a:rPr lang="ko-KR" altLang="en-US" dirty="0" smtClean="0"/>
              <a:t>정수임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1448780"/>
            <a:ext cx="77057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" y="3217131"/>
            <a:ext cx="7705725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37" y="5998431"/>
            <a:ext cx="18764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723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print( )</a:t>
            </a:r>
            <a:r>
              <a:rPr lang="ko-KR" altLang="en-US" spc="-150" dirty="0"/>
              <a:t>의 </a:t>
            </a:r>
            <a:r>
              <a:rPr lang="ko-KR" altLang="en-US" spc="-150" dirty="0" smtClean="0"/>
              <a:t>서식을 지정해봅시다</a:t>
            </a:r>
            <a:r>
              <a:rPr lang="en-US" altLang="ko-KR" spc="-150" dirty="0" smtClean="0"/>
              <a:t>(5)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서식 출력 연습</a:t>
            </a:r>
            <a:endParaRPr lang="en-US" altLang="ko-KR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61" y="1356657"/>
            <a:ext cx="6876109" cy="3029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145" y="832782"/>
            <a:ext cx="1419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261" y="4519447"/>
            <a:ext cx="6249667" cy="2059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168" y="6093575"/>
            <a:ext cx="7905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090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print( )</a:t>
            </a:r>
            <a:r>
              <a:rPr lang="ko-KR" altLang="en-US" spc="-150" dirty="0"/>
              <a:t>의 </a:t>
            </a:r>
            <a:r>
              <a:rPr lang="ko-KR" altLang="en-US" spc="-150" dirty="0" smtClean="0"/>
              <a:t>서식을 지정해봅시다</a:t>
            </a:r>
            <a:r>
              <a:rPr lang="en-US" altLang="ko-KR" spc="-150" dirty="0" smtClean="0"/>
              <a:t>(11)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이스케이프 </a:t>
            </a:r>
            <a:r>
              <a:rPr lang="ko-KR" altLang="en-US" dirty="0" smtClean="0"/>
              <a:t>문자 활용</a:t>
            </a:r>
            <a:endParaRPr lang="en-US" altLang="ko-K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655" y="1355394"/>
            <a:ext cx="7094960" cy="195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655" y="3752150"/>
            <a:ext cx="7112565" cy="231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44" y="1355394"/>
            <a:ext cx="14382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752150"/>
            <a:ext cx="8096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444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F0A8B-F673-4001-8A39-04FCB6CD285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96525" y="0"/>
            <a:ext cx="67438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Batang" panose="02030600000101010101" pitchFamily="18" charset="-127"/>
              <a:buChar char="★"/>
            </a:pPr>
            <a:r>
              <a:rPr lang="ko-KR" altLang="en-US" sz="2400" dirty="0" smtClean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400" dirty="0" smtClean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print</a:t>
            </a:r>
            <a:r>
              <a:rPr lang="ko-KR" altLang="en-US" sz="2400" dirty="0" smtClean="0"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</a:rPr>
              <a:t> 문의 최근 사용 형식</a:t>
            </a:r>
            <a:endParaRPr lang="en-US" altLang="ko-KR" sz="2400" dirty="0">
              <a:solidFill>
                <a:schemeClr val="tx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1540" y="1088740"/>
            <a:ext cx="836168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200" dirty="0" err="1"/>
              <a:t>total_score</a:t>
            </a:r>
            <a:r>
              <a:rPr lang="ko-KR" altLang="en-US" sz="2200" dirty="0"/>
              <a:t> = </a:t>
            </a:r>
            <a:r>
              <a:rPr lang="en-US" altLang="ko-KR" sz="2200" dirty="0" smtClean="0"/>
              <a:t>600</a:t>
            </a:r>
            <a:endParaRPr lang="ko-KR" altLang="en-US" sz="2200" dirty="0"/>
          </a:p>
          <a:p>
            <a:r>
              <a:rPr lang="ko-KR" altLang="en-US" sz="2200" dirty="0" err="1"/>
              <a:t>average_score</a:t>
            </a:r>
            <a:r>
              <a:rPr lang="ko-KR" altLang="en-US" sz="2200" dirty="0"/>
              <a:t> = </a:t>
            </a:r>
            <a:r>
              <a:rPr lang="ko-KR" altLang="en-US" sz="2200" dirty="0" err="1" smtClean="0"/>
              <a:t>total_score</a:t>
            </a:r>
            <a:r>
              <a:rPr lang="en-US" altLang="ko-KR" sz="2200" dirty="0" smtClean="0"/>
              <a:t>/6</a:t>
            </a:r>
          </a:p>
          <a:p>
            <a:endParaRPr lang="ko-KR" altLang="en-US" sz="2200" dirty="0"/>
          </a:p>
          <a:p>
            <a:r>
              <a:rPr lang="ko-KR" altLang="en-US" sz="2200" dirty="0" err="1"/>
              <a:t>print</a:t>
            </a:r>
            <a:r>
              <a:rPr lang="ko-KR" altLang="en-US" sz="2200" dirty="0"/>
              <a:t>(</a:t>
            </a:r>
            <a:r>
              <a:rPr lang="ko-KR" altLang="en-US" sz="2200" dirty="0" err="1">
                <a:solidFill>
                  <a:srgbClr val="FF0000"/>
                </a:solidFill>
              </a:rPr>
              <a:t>f</a:t>
            </a:r>
            <a:r>
              <a:rPr lang="ko-KR" altLang="en-US" sz="2200" dirty="0" err="1"/>
              <a:t>"총점은</a:t>
            </a:r>
            <a:r>
              <a:rPr lang="ko-KR" altLang="en-US" sz="2200" dirty="0"/>
              <a:t> </a:t>
            </a:r>
            <a:r>
              <a:rPr lang="ko-KR" altLang="en-US" sz="2200" dirty="0">
                <a:solidFill>
                  <a:srgbClr val="FF0000"/>
                </a:solidFill>
              </a:rPr>
              <a:t>{</a:t>
            </a:r>
            <a:r>
              <a:rPr lang="ko-KR" altLang="en-US" sz="2200" dirty="0" err="1">
                <a:solidFill>
                  <a:srgbClr val="FF0000"/>
                </a:solidFill>
              </a:rPr>
              <a:t>total_score</a:t>
            </a:r>
            <a:r>
              <a:rPr lang="ko-KR" altLang="en-US" sz="2200" dirty="0">
                <a:solidFill>
                  <a:srgbClr val="FF0000"/>
                </a:solidFill>
              </a:rPr>
              <a:t>}</a:t>
            </a:r>
            <a:r>
              <a:rPr lang="ko-KR" altLang="en-US" sz="2200" dirty="0"/>
              <a:t>이고, 평균은</a:t>
            </a:r>
            <a:r>
              <a:rPr lang="ko-KR" altLang="en-US" sz="2200" dirty="0">
                <a:solidFill>
                  <a:srgbClr val="FF0000"/>
                </a:solidFill>
              </a:rPr>
              <a:t>{</a:t>
            </a:r>
            <a:r>
              <a:rPr lang="ko-KR" altLang="en-US" sz="2200" dirty="0" err="1">
                <a:solidFill>
                  <a:srgbClr val="FF0000"/>
                </a:solidFill>
              </a:rPr>
              <a:t>average_score</a:t>
            </a:r>
            <a:r>
              <a:rPr lang="ko-KR" altLang="en-US" sz="2200" dirty="0">
                <a:solidFill>
                  <a:srgbClr val="FF0000"/>
                </a:solidFill>
              </a:rPr>
              <a:t>}</a:t>
            </a:r>
            <a:r>
              <a:rPr lang="ko-KR" altLang="en-US" sz="2200" dirty="0"/>
              <a:t>입니다.")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98104" y="2888940"/>
            <a:ext cx="2281646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정렬 예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#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f-string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 왼쪽 정렬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s1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left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result1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'|{s1:&lt;10}|'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print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(result1)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#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f-string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 가운데 정렬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s2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mid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result2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'|{s2:^10}|'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print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(result2)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#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f-string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 오른쪽 정렬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s3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right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result3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'|{s3:&gt;10}|'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print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(result3)</a:t>
            </a:r>
            <a:endParaRPr kumimoji="0" lang="ko-KR" altLang="ko-K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521550" y="2978950"/>
            <a:ext cx="567655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# 문자열 맨 앞에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f를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 붙이고, 출력할 변수, 값을 중괄호 안에 넣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음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19191"/>
                </a:solidFill>
                <a:effectLst/>
                <a:latin typeface="+mn-ea"/>
              </a:rPr>
              <a:t>.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coffee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n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FFCD22"/>
                </a:solidFill>
                <a:effectLst/>
                <a:latin typeface="+mn-ea"/>
              </a:rPr>
              <a:t>5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result1 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 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'저는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 {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s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}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를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 좋아합니다. 하루 {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n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EC7600"/>
                </a:solidFill>
                <a:effectLst/>
                <a:latin typeface="+mn-ea"/>
              </a:rPr>
              <a:t>}잔 마셔요.'</a:t>
            </a:r>
            <a:endParaRPr kumimoji="0" lang="ko-KR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93C763"/>
                </a:solidFill>
                <a:effectLst/>
                <a:latin typeface="+mn-ea"/>
              </a:rPr>
              <a:t>print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(result1)</a:t>
            </a:r>
            <a:endParaRPr kumimoji="0" lang="ko-KR" altLang="ko-KR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346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 smtClean="0"/>
              <a:t>변수를 확실히 </a:t>
            </a:r>
            <a:r>
              <a:rPr lang="ko-KR" altLang="en-US" spc="-150" dirty="0"/>
              <a:t>이해합시다</a:t>
            </a:r>
            <a:r>
              <a:rPr lang="en-US" altLang="ko-KR" spc="-150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변수의 </a:t>
            </a:r>
            <a:r>
              <a:rPr lang="ko-KR" altLang="en-US" dirty="0" smtClean="0"/>
              <a:t>선언</a:t>
            </a:r>
            <a:endParaRPr lang="en-US" altLang="ko-KR" dirty="0" smtClean="0"/>
          </a:p>
          <a:p>
            <a:pPr lvl="1"/>
            <a:r>
              <a:rPr lang="ko-KR" altLang="en-US" dirty="0"/>
              <a:t>변수는 어떤 값을 저장하기 위한 메모리 </a:t>
            </a:r>
            <a:r>
              <a:rPr lang="ko-KR" altLang="en-US" dirty="0" smtClean="0"/>
              <a:t>공간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r>
              <a:rPr lang="ko-KR" altLang="en-US" dirty="0"/>
              <a:t>‘그릇’이라고 </a:t>
            </a:r>
            <a:r>
              <a:rPr lang="ko-KR" altLang="en-US" dirty="0" smtClean="0"/>
              <a:t>생각함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가장 많이 사용하는 변수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00" y="2389824"/>
            <a:ext cx="77247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00" y="3274811"/>
            <a:ext cx="76771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00" y="5357864"/>
            <a:ext cx="11239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2647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 smtClean="0"/>
              <a:t>변수를 확실히 </a:t>
            </a:r>
            <a:r>
              <a:rPr lang="ko-KR" altLang="en-US" spc="-150" dirty="0"/>
              <a:t>이해합시다</a:t>
            </a:r>
            <a:r>
              <a:rPr lang="en-US" altLang="ko-KR" spc="-150" dirty="0" smtClean="0"/>
              <a:t>(</a:t>
            </a:r>
            <a:r>
              <a:rPr lang="en-US" altLang="ko-KR" spc="-150" dirty="0"/>
              <a:t>3</a:t>
            </a:r>
            <a:r>
              <a:rPr lang="en-US" altLang="ko-KR" spc="-150" dirty="0" smtClean="0"/>
              <a:t>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변수에 </a:t>
            </a:r>
            <a:r>
              <a:rPr lang="ko-KR" altLang="en-US" dirty="0" smtClean="0"/>
              <a:t>값을 담는 </a:t>
            </a:r>
            <a:r>
              <a:rPr lang="ko-KR" altLang="en-US" dirty="0"/>
              <a:t>방법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11" y="1448780"/>
            <a:ext cx="7425825" cy="1408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10" y="3150848"/>
            <a:ext cx="7425825" cy="2597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11" y="5817426"/>
            <a:ext cx="18097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1859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 smtClean="0"/>
              <a:t>변수를 확실히 </a:t>
            </a:r>
            <a:r>
              <a:rPr lang="ko-KR" altLang="en-US" spc="-150" dirty="0"/>
              <a:t>이해합시다</a:t>
            </a:r>
            <a:r>
              <a:rPr lang="en-US" altLang="ko-KR" spc="-150" dirty="0" smtClean="0"/>
              <a:t>(4)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변수의 값을 변수에 넣기</a:t>
            </a:r>
            <a:endParaRPr lang="en-US" altLang="ko-KR" dirty="0" smtClean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605" y="2473661"/>
            <a:ext cx="54102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87" y="2473661"/>
            <a:ext cx="167640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032" y="1360235"/>
            <a:ext cx="5306593" cy="814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882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데이터 </a:t>
            </a:r>
            <a:r>
              <a:rPr lang="ko-KR" altLang="en-US" spc="-150" dirty="0" smtClean="0"/>
              <a:t>형식을 정리해봅시다</a:t>
            </a:r>
            <a:r>
              <a:rPr lang="en-US" altLang="ko-KR" spc="-150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정수 데이터 형식</a:t>
            </a:r>
            <a:endParaRPr lang="en-US" altLang="ko-KR" dirty="0" smtClean="0"/>
          </a:p>
          <a:p>
            <a:pPr lvl="1"/>
            <a:r>
              <a:rPr lang="ko-KR" altLang="en-US" dirty="0"/>
              <a:t>정수형은 소수점이 없는 </a:t>
            </a:r>
            <a:r>
              <a:rPr lang="ko-KR" altLang="en-US" dirty="0" smtClean="0"/>
              <a:t>데이터임</a:t>
            </a:r>
            <a:r>
              <a:rPr lang="en-US" altLang="ko-KR" dirty="0" smtClean="0"/>
              <a:t>. ( </a:t>
            </a:r>
            <a:r>
              <a:rPr lang="ko-KR" altLang="en-US" dirty="0" smtClean="0"/>
              <a:t>기본적인 정수형</a:t>
            </a:r>
            <a:r>
              <a:rPr lang="en-US" altLang="ko-KR" dirty="0" smtClean="0"/>
              <a:t> 100</a:t>
            </a:r>
            <a:r>
              <a:rPr lang="en-US" altLang="ko-KR" dirty="0"/>
              <a:t>, -123, 0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ko-KR" altLang="en-US" dirty="0" err="1" smtClean="0"/>
              <a:t>파이썬은</a:t>
            </a:r>
            <a:r>
              <a:rPr lang="ko-KR" altLang="en-US" dirty="0" smtClean="0"/>
              <a:t> </a:t>
            </a:r>
            <a:r>
              <a:rPr lang="ko-KR" altLang="en-US" dirty="0"/>
              <a:t>변수의 </a:t>
            </a:r>
            <a:r>
              <a:rPr lang="ko-KR" altLang="en-US" dirty="0" smtClean="0"/>
              <a:t>선언이 </a:t>
            </a:r>
            <a:r>
              <a:rPr lang="ko-KR" altLang="en-US" dirty="0"/>
              <a:t>없으며 변수에 값을 넣는 순간 변수의 데이터 형식이 </a:t>
            </a:r>
            <a:r>
              <a:rPr lang="ko-KR" altLang="en-US" dirty="0" smtClean="0"/>
              <a:t>결정됨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err="1" smtClean="0"/>
              <a:t>int</a:t>
            </a:r>
            <a:r>
              <a:rPr lang="ko-KR" altLang="en-US" dirty="0"/>
              <a:t>는 </a:t>
            </a:r>
            <a:r>
              <a:rPr lang="ko-KR" altLang="en-US" dirty="0" smtClean="0"/>
              <a:t>기본적인 </a:t>
            </a:r>
            <a:r>
              <a:rPr lang="ko-KR" altLang="en-US" dirty="0"/>
              <a:t>정수 데이터 </a:t>
            </a:r>
            <a:r>
              <a:rPr lang="ko-KR" altLang="en-US" dirty="0" smtClean="0"/>
              <a:t>형식이며 </a:t>
            </a:r>
            <a:r>
              <a:rPr lang="ko-KR" altLang="en-US" dirty="0" err="1"/>
              <a:t>파이썬</a:t>
            </a:r>
            <a:r>
              <a:rPr lang="ko-KR" altLang="en-US" dirty="0"/>
              <a:t> 버전 </a:t>
            </a:r>
            <a:r>
              <a:rPr lang="en-US" altLang="ko-KR" dirty="0"/>
              <a:t>3.5</a:t>
            </a:r>
            <a:r>
              <a:rPr lang="ko-KR" altLang="en-US" dirty="0"/>
              <a:t>에서는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크기의 제한이 </a:t>
            </a:r>
            <a:r>
              <a:rPr lang="ko-KR" altLang="en-US" dirty="0" smtClean="0"/>
              <a:t>없음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66" y="2313918"/>
            <a:ext cx="7675216" cy="128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13" y="4442012"/>
            <a:ext cx="7675217" cy="131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6787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데이터 </a:t>
            </a:r>
            <a:r>
              <a:rPr lang="ko-KR" altLang="en-US" spc="-150" dirty="0" smtClean="0"/>
              <a:t>형식을 정리해봅시다</a:t>
            </a:r>
            <a:r>
              <a:rPr lang="en-US" altLang="ko-KR" spc="-150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실수 </a:t>
            </a:r>
            <a:r>
              <a:rPr lang="ko-KR" altLang="en-US" dirty="0" smtClean="0"/>
              <a:t>데이터 형식</a:t>
            </a:r>
            <a:endParaRPr lang="en-US" altLang="ko-KR" dirty="0" smtClean="0"/>
          </a:p>
          <a:p>
            <a:pPr lvl="1"/>
            <a:r>
              <a:rPr lang="ko-KR" altLang="en-US" dirty="0" err="1"/>
              <a:t>실수형은</a:t>
            </a:r>
            <a:r>
              <a:rPr lang="ko-KR" altLang="en-US" dirty="0"/>
              <a:t> </a:t>
            </a:r>
            <a:r>
              <a:rPr lang="en-US" altLang="ko-KR" dirty="0"/>
              <a:t>3.14, -2.7</a:t>
            </a:r>
            <a:r>
              <a:rPr lang="ko-KR" altLang="en-US" dirty="0"/>
              <a:t>처럼 소수점이 있는 </a:t>
            </a:r>
            <a:r>
              <a:rPr lang="ko-KR" altLang="en-US" dirty="0" smtClean="0"/>
              <a:t>데이터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사칙연산인 </a:t>
            </a:r>
            <a:r>
              <a:rPr lang="en-US" altLang="ko-KR" dirty="0"/>
              <a:t>+, -, *, /</a:t>
            </a:r>
            <a:r>
              <a:rPr lang="ko-KR" altLang="en-US" dirty="0"/>
              <a:t>를 </a:t>
            </a:r>
            <a:r>
              <a:rPr lang="ko-KR" altLang="en-US" dirty="0" smtClean="0"/>
              <a:t>수행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13" y="1834365"/>
            <a:ext cx="8136160" cy="1701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13" y="4349119"/>
            <a:ext cx="8100900" cy="1357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587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데이터 </a:t>
            </a:r>
            <a:r>
              <a:rPr lang="ko-KR" altLang="en-US" spc="-150" dirty="0" smtClean="0"/>
              <a:t>형식을 정리해봅시다</a:t>
            </a:r>
            <a:r>
              <a:rPr lang="en-US" altLang="ko-KR" spc="-150" dirty="0" smtClean="0"/>
              <a:t>(</a:t>
            </a:r>
            <a:r>
              <a:rPr lang="en-US" altLang="ko-KR" spc="-150" dirty="0"/>
              <a:t>6</a:t>
            </a:r>
            <a:r>
              <a:rPr lang="en-US" altLang="ko-KR" spc="-150" dirty="0" smtClean="0"/>
              <a:t>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문자열 </a:t>
            </a:r>
            <a:r>
              <a:rPr lang="ko-KR" altLang="en-US" dirty="0" smtClean="0"/>
              <a:t>데이터 형식</a:t>
            </a:r>
            <a:endParaRPr lang="en-US" altLang="ko-KR" dirty="0" smtClean="0"/>
          </a:p>
          <a:p>
            <a:pPr lvl="1"/>
            <a:r>
              <a:rPr lang="ko-KR" altLang="en-US" dirty="0"/>
              <a:t>문자열은 양쪽을 큰따옴표</a:t>
            </a:r>
            <a:r>
              <a:rPr lang="en-US" altLang="ko-KR" dirty="0"/>
              <a:t>(“”)</a:t>
            </a:r>
            <a:r>
              <a:rPr lang="ko-KR" altLang="en-US" dirty="0"/>
              <a:t>나 작은따옴표</a:t>
            </a:r>
            <a:r>
              <a:rPr lang="en-US" altLang="ko-KR" dirty="0"/>
              <a:t>(‘’)</a:t>
            </a:r>
            <a:r>
              <a:rPr lang="ko-KR" altLang="en-US" dirty="0"/>
              <a:t>로 감싸야 함</a:t>
            </a:r>
            <a:endParaRPr lang="en-US" altLang="ko-KR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675" y="1808820"/>
            <a:ext cx="6824566" cy="1293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687" y="3197790"/>
            <a:ext cx="7820170" cy="1063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257" y="4641538"/>
            <a:ext cx="6963271" cy="74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94" y="5473131"/>
            <a:ext cx="7907734" cy="764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4601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095" y="1088740"/>
            <a:ext cx="3570208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000" b="1" spc="-15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Chapter</a:t>
            </a:r>
            <a:r>
              <a:rPr lang="en-US" altLang="ko-KR" sz="40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</a:t>
            </a:r>
            <a:r>
              <a:rPr lang="en-US" altLang="ko-KR" sz="66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02</a:t>
            </a:r>
          </a:p>
          <a:p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연산자와 문자열</a:t>
            </a:r>
            <a:endParaRPr lang="ko-KR" altLang="en-US" sz="5400" b="1" spc="-30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385576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산술 </a:t>
            </a:r>
            <a:r>
              <a:rPr lang="ko-KR" altLang="en-US" dirty="0" smtClean="0"/>
              <a:t>연산자를 알아봅시다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산술 연산자</a:t>
            </a:r>
            <a:endParaRPr lang="en-US" altLang="ko-K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54" y="1375014"/>
            <a:ext cx="7242525" cy="3291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379" y="781086"/>
            <a:ext cx="1295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7" y="4959170"/>
            <a:ext cx="7591142" cy="1299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83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산술 </a:t>
            </a:r>
            <a:r>
              <a:rPr lang="ko-KR" altLang="en-US" dirty="0" smtClean="0"/>
              <a:t>연산자를 알아봅시다</a:t>
            </a:r>
            <a:r>
              <a:rPr lang="en-US" altLang="ko-KR" dirty="0" smtClean="0"/>
              <a:t>(4)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대입 연산자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50" y="1673805"/>
            <a:ext cx="5772150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1012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산술 </a:t>
            </a:r>
            <a:r>
              <a:rPr lang="ko-KR" altLang="en-US" dirty="0" smtClean="0"/>
              <a:t>연산자를 알아봅시다</a:t>
            </a:r>
            <a:r>
              <a:rPr lang="en-US" altLang="ko-KR" dirty="0" smtClean="0"/>
              <a:t>(7)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윤년 계산 프로그램 </a:t>
            </a:r>
            <a:endParaRPr lang="en-US" altLang="ko-KR" dirty="0"/>
          </a:p>
          <a:p>
            <a:pPr lvl="1"/>
            <a:r>
              <a:rPr lang="ko-KR" altLang="en-US" dirty="0"/>
              <a:t>윤년이란 태양년에 맞추기 위해서 </a:t>
            </a:r>
            <a:r>
              <a:rPr lang="en-US" altLang="ko-KR" dirty="0"/>
              <a:t>4</a:t>
            </a:r>
            <a:r>
              <a:rPr lang="ko-KR" altLang="en-US" dirty="0"/>
              <a:t>년에 한 번씩 윤 날</a:t>
            </a:r>
            <a:r>
              <a:rPr lang="en-US" altLang="ko-KR" dirty="0"/>
              <a:t>(2</a:t>
            </a:r>
            <a:r>
              <a:rPr lang="ko-KR" altLang="en-US" dirty="0"/>
              <a:t>월</a:t>
            </a:r>
            <a:r>
              <a:rPr lang="en-US" altLang="ko-KR" dirty="0"/>
              <a:t>29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r>
              <a:rPr lang="ko-KR" altLang="en-US" dirty="0"/>
              <a:t>을 추가하는 해를 말함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635000" lvl="2" indent="0">
              <a:buNone/>
            </a:pPr>
            <a:r>
              <a:rPr lang="en-US" altLang="ko-KR" sz="1600" dirty="0"/>
              <a:t>## </a:t>
            </a:r>
            <a:r>
              <a:rPr lang="ko-KR" altLang="en-US" sz="1600" dirty="0"/>
              <a:t>변수 선언 부분</a:t>
            </a:r>
          </a:p>
          <a:p>
            <a:pPr marL="635000" lvl="2" indent="0">
              <a:buNone/>
            </a:pPr>
            <a:r>
              <a:rPr lang="en-US" altLang="ko-KR" sz="1600" dirty="0"/>
              <a:t>year = 0 </a:t>
            </a:r>
          </a:p>
          <a:p>
            <a:pPr marL="635000" lvl="2" indent="0">
              <a:buNone/>
            </a:pPr>
            <a:endParaRPr lang="en-US" altLang="ko-KR" sz="1600" dirty="0"/>
          </a:p>
          <a:p>
            <a:pPr marL="635000" lvl="2" indent="0">
              <a:buNone/>
            </a:pPr>
            <a:r>
              <a:rPr lang="en-US" altLang="ko-KR" sz="1600" dirty="0"/>
              <a:t>## </a:t>
            </a:r>
            <a:r>
              <a:rPr lang="ko-KR" altLang="en-US" sz="1600" dirty="0"/>
              <a:t>메인</a:t>
            </a:r>
            <a:r>
              <a:rPr lang="en-US" altLang="ko-KR" sz="1600" dirty="0"/>
              <a:t>(main) </a:t>
            </a:r>
            <a:r>
              <a:rPr lang="ko-KR" altLang="en-US" sz="1600" dirty="0"/>
              <a:t>코드 부분</a:t>
            </a:r>
          </a:p>
          <a:p>
            <a:pPr marL="635000" lvl="2" indent="0">
              <a:buNone/>
            </a:pPr>
            <a:r>
              <a:rPr lang="en-US" altLang="ko-KR" sz="1600" dirty="0"/>
              <a:t>year=int(input("</a:t>
            </a:r>
            <a:r>
              <a:rPr lang="ko-KR" altLang="en-US" sz="1600" dirty="0"/>
              <a:t>연도를 입력하세요 </a:t>
            </a:r>
            <a:r>
              <a:rPr lang="en-US" altLang="ko-KR" sz="1600" dirty="0"/>
              <a:t>: "))</a:t>
            </a:r>
          </a:p>
          <a:p>
            <a:pPr marL="635000" lvl="2" indent="0">
              <a:buNone/>
            </a:pPr>
            <a:endParaRPr lang="en-US" altLang="ko-KR" sz="1600" dirty="0"/>
          </a:p>
          <a:p>
            <a:pPr marL="635000" lvl="2" indent="0">
              <a:buNone/>
            </a:pPr>
            <a:r>
              <a:rPr lang="en-US" altLang="ko-KR" sz="1600" dirty="0"/>
              <a:t>if (((year % 4 == 0) and (year % 100 != 0)) or (year % 400 == 0)) :</a:t>
            </a:r>
          </a:p>
          <a:p>
            <a:pPr marL="635000" lvl="2" indent="0">
              <a:buNone/>
            </a:pPr>
            <a:r>
              <a:rPr lang="en-US" altLang="ko-KR" sz="1600" dirty="0"/>
              <a:t>    print("%d </a:t>
            </a:r>
            <a:r>
              <a:rPr lang="ko-KR" altLang="en-US" sz="1600" dirty="0"/>
              <a:t>년은 윤년입니다</a:t>
            </a:r>
            <a:r>
              <a:rPr lang="en-US" altLang="ko-KR" sz="1600" dirty="0"/>
              <a:t>." % year);</a:t>
            </a:r>
          </a:p>
          <a:p>
            <a:pPr marL="635000" lvl="2" indent="0">
              <a:buNone/>
            </a:pPr>
            <a:r>
              <a:rPr lang="en-US" altLang="ko-KR" sz="1600" dirty="0"/>
              <a:t>else :</a:t>
            </a:r>
          </a:p>
          <a:p>
            <a:pPr marL="635000" lvl="2" indent="0">
              <a:buNone/>
            </a:pPr>
            <a:r>
              <a:rPr lang="en-US" altLang="ko-KR" sz="1600" dirty="0"/>
              <a:t>    print("%d </a:t>
            </a:r>
            <a:r>
              <a:rPr lang="ko-KR" altLang="en-US" sz="1600" dirty="0"/>
              <a:t>년은 윤년이 아닙니다</a:t>
            </a:r>
            <a:r>
              <a:rPr lang="en-US" altLang="ko-KR" sz="1600" dirty="0"/>
              <a:t>." % year);</a:t>
            </a:r>
          </a:p>
        </p:txBody>
      </p:sp>
    </p:spTree>
    <p:extLst>
      <p:ext uri="{BB962C8B-B14F-4D97-AF65-F5344CB8AC3E}">
        <p14:creationId xmlns:p14="http://schemas.microsoft.com/office/powerpoint/2010/main" val="3538115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관계 </a:t>
            </a:r>
            <a:r>
              <a:rPr lang="ko-KR" altLang="en-US" dirty="0" smtClean="0"/>
              <a:t>연산자를 알아봅시다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관계 </a:t>
            </a:r>
            <a:r>
              <a:rPr lang="ko-KR" altLang="en-US" dirty="0" smtClean="0"/>
              <a:t>연산자</a:t>
            </a:r>
            <a:endParaRPr lang="en-US" altLang="ko-KR" dirty="0" smtClean="0"/>
          </a:p>
          <a:p>
            <a:pPr lvl="1"/>
            <a:r>
              <a:rPr lang="ko-KR" altLang="en-US" dirty="0"/>
              <a:t>어떤 것이 큰지</a:t>
            </a:r>
            <a:r>
              <a:rPr lang="en-US" altLang="ko-KR" dirty="0"/>
              <a:t>, </a:t>
            </a:r>
            <a:r>
              <a:rPr lang="ko-KR" altLang="en-US" dirty="0"/>
              <a:t>작은지</a:t>
            </a:r>
            <a:r>
              <a:rPr lang="en-US" altLang="ko-KR" dirty="0"/>
              <a:t>, </a:t>
            </a:r>
            <a:r>
              <a:rPr lang="ko-KR" altLang="en-US" dirty="0"/>
              <a:t>같은지를 비교하는 </a:t>
            </a:r>
            <a:r>
              <a:rPr lang="ko-KR" altLang="en-US" dirty="0" smtClean="0"/>
              <a:t>것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결과는 </a:t>
            </a:r>
            <a:r>
              <a:rPr lang="ko-KR" altLang="en-US" dirty="0"/>
              <a:t>참</a:t>
            </a:r>
            <a:r>
              <a:rPr lang="en-US" altLang="ko-KR" dirty="0"/>
              <a:t>(True)</a:t>
            </a:r>
            <a:r>
              <a:rPr lang="ko-KR" altLang="en-US" dirty="0"/>
              <a:t>이나 거짓</a:t>
            </a:r>
            <a:r>
              <a:rPr lang="en-US" altLang="ko-KR" dirty="0"/>
              <a:t>(False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lvl="1"/>
            <a:r>
              <a:rPr lang="ko-KR" altLang="en-US" dirty="0" smtClean="0"/>
              <a:t>주로 </a:t>
            </a:r>
            <a:r>
              <a:rPr lang="ko-KR" altLang="en-US" dirty="0" err="1" smtClean="0"/>
              <a:t>조건문</a:t>
            </a:r>
            <a:r>
              <a:rPr lang="en-US" altLang="ko-KR" dirty="0" smtClean="0"/>
              <a:t>(</a:t>
            </a:r>
            <a:r>
              <a:rPr lang="en-US" altLang="ko-KR" dirty="0"/>
              <a:t>if )</a:t>
            </a:r>
            <a:r>
              <a:rPr lang="ko-KR" altLang="en-US" dirty="0"/>
              <a:t>이나 </a:t>
            </a:r>
            <a:r>
              <a:rPr lang="ko-KR" altLang="en-US" dirty="0" err="1" smtClean="0"/>
              <a:t>반복문</a:t>
            </a:r>
            <a:r>
              <a:rPr lang="en-US" altLang="ko-KR" dirty="0" smtClean="0"/>
              <a:t>(</a:t>
            </a:r>
            <a:r>
              <a:rPr lang="en-US" altLang="ko-KR" dirty="0"/>
              <a:t>for, while)</a:t>
            </a:r>
            <a:r>
              <a:rPr lang="ko-KR" altLang="en-US" dirty="0"/>
              <a:t>에서 </a:t>
            </a:r>
            <a:r>
              <a:rPr lang="ko-KR" altLang="en-US" dirty="0" smtClean="0"/>
              <a:t>사용</a:t>
            </a:r>
            <a:endParaRPr lang="en-US" altLang="ko-K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665" y="2497708"/>
            <a:ext cx="4635515" cy="957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665" y="3706829"/>
            <a:ext cx="6210690" cy="260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641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논리 연산자를 알아봅시다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논리 연산자 </a:t>
            </a:r>
            <a:r>
              <a:rPr lang="ko-KR" altLang="en-US" dirty="0"/>
              <a:t>예</a:t>
            </a:r>
            <a:endParaRPr lang="en-US" altLang="ko-KR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91" y="1403775"/>
            <a:ext cx="8280920" cy="2045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8283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문자열에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연결할 경우 더하기</a:t>
            </a:r>
            <a:r>
              <a:rPr lang="en-US" altLang="ko-KR" dirty="0" smtClean="0"/>
              <a:t>(+)</a:t>
            </a:r>
            <a:r>
              <a:rPr lang="ko-KR" altLang="en-US" dirty="0"/>
              <a:t>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곱하기</a:t>
            </a:r>
            <a:r>
              <a:rPr lang="en-US" altLang="ko-KR" dirty="0"/>
              <a:t>(*)</a:t>
            </a:r>
            <a:r>
              <a:rPr lang="ko-KR" altLang="en-US" dirty="0"/>
              <a:t>는 문자열을 </a:t>
            </a:r>
            <a:r>
              <a:rPr lang="ko-KR" altLang="en-US" dirty="0" smtClean="0"/>
              <a:t>반복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  <a:p>
            <a:pPr lvl="1"/>
            <a:r>
              <a:rPr lang="ko-KR" altLang="en-US" dirty="0"/>
              <a:t>문자열의 </a:t>
            </a:r>
            <a:r>
              <a:rPr lang="ko-KR" altLang="en-US" dirty="0" smtClean="0"/>
              <a:t>길이 </a:t>
            </a:r>
            <a:r>
              <a:rPr lang="en-US" altLang="ko-KR" dirty="0" err="1" smtClean="0"/>
              <a:t>len</a:t>
            </a:r>
            <a:r>
              <a:rPr lang="en-US" altLang="ko-KR" dirty="0"/>
              <a:t>( ) </a:t>
            </a:r>
            <a:r>
              <a:rPr lang="ko-KR" altLang="en-US" dirty="0" smtClean="0"/>
              <a:t>함수</a:t>
            </a:r>
            <a:endParaRPr lang="en-US" altLang="ko-K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31" y="1394187"/>
            <a:ext cx="7613345" cy="209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19" y="4349187"/>
            <a:ext cx="7523101" cy="127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6731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문자열에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/>
              <a:t>for</a:t>
            </a:r>
            <a:r>
              <a:rPr lang="ko-KR" altLang="en-US" dirty="0"/>
              <a:t>문을 사용하여 모든 글자 뒤에 </a:t>
            </a:r>
            <a:r>
              <a:rPr lang="en-US" altLang="ko-KR" dirty="0" smtClean="0"/>
              <a:t>$</a:t>
            </a:r>
            <a:r>
              <a:rPr lang="ko-KR" altLang="en-US" dirty="0"/>
              <a:t> </a:t>
            </a:r>
            <a:r>
              <a:rPr lang="ko-KR" altLang="en-US" dirty="0" smtClean="0"/>
              <a:t>붙이기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0" y="1358770"/>
            <a:ext cx="7944241" cy="2115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3711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문자열에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(4)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문자열을 거꾸로 출력하는 프로그램 </a:t>
            </a:r>
            <a:r>
              <a:rPr lang="ko-KR" altLang="en-US" dirty="0"/>
              <a:t>완성</a:t>
            </a:r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55" y="1935465"/>
            <a:ext cx="7297055" cy="38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55" y="1448780"/>
            <a:ext cx="1438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1793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문자열 </a:t>
            </a:r>
            <a:r>
              <a:rPr lang="ko-KR" altLang="en-US" spc="-150" dirty="0" smtClean="0"/>
              <a:t>함수를 활용해봅시다</a:t>
            </a:r>
            <a:r>
              <a:rPr lang="en-US" altLang="ko-KR" dirty="0" smtClean="0"/>
              <a:t>(13)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/>
              <a:t>7</a:t>
            </a:r>
            <a:r>
              <a:rPr lang="ko-KR" altLang="en-US" dirty="0"/>
              <a:t>행</a:t>
            </a:r>
            <a:r>
              <a:rPr lang="en-US" altLang="ko-KR" dirty="0"/>
              <a:t>, 8</a:t>
            </a:r>
            <a:r>
              <a:rPr lang="ko-KR" altLang="en-US" dirty="0" smtClean="0"/>
              <a:t>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문자열을 입력 받고 길이를 구함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10</a:t>
            </a:r>
            <a:r>
              <a:rPr lang="ko-KR" altLang="en-US" dirty="0"/>
              <a:t>행</a:t>
            </a:r>
            <a:r>
              <a:rPr lang="en-US" altLang="ko-KR" dirty="0"/>
              <a:t>~19</a:t>
            </a:r>
            <a:r>
              <a:rPr lang="ko-KR" altLang="en-US" dirty="0" smtClean="0"/>
              <a:t>행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문자열의 </a:t>
            </a:r>
            <a:r>
              <a:rPr lang="ko-KR" altLang="en-US" dirty="0"/>
              <a:t>길이만큼 반복하고 </a:t>
            </a:r>
            <a:r>
              <a:rPr lang="en-US" altLang="ko-KR" dirty="0"/>
              <a:t>11</a:t>
            </a:r>
            <a:r>
              <a:rPr lang="ko-KR" altLang="en-US" dirty="0"/>
              <a:t>행에서는 문자 하나를 문자열에서 차례대로 </a:t>
            </a:r>
            <a:r>
              <a:rPr lang="ko-KR" altLang="en-US" dirty="0" smtClean="0"/>
              <a:t>추출</a:t>
            </a:r>
            <a:r>
              <a:rPr lang="en-US" altLang="ko-KR" dirty="0" smtClean="0"/>
              <a:t>. </a:t>
            </a:r>
            <a:r>
              <a:rPr lang="en-US" altLang="ko-KR" dirty="0" err="1"/>
              <a:t>ord</a:t>
            </a:r>
            <a:r>
              <a:rPr lang="en-US" altLang="ko-KR" dirty="0"/>
              <a:t>(</a:t>
            </a:r>
            <a:r>
              <a:rPr lang="ko-KR" altLang="en-US" dirty="0"/>
              <a:t>문자</a:t>
            </a:r>
            <a:r>
              <a:rPr lang="en-US" altLang="ko-KR" dirty="0"/>
              <a:t>) </a:t>
            </a:r>
            <a:r>
              <a:rPr lang="ko-KR" altLang="en-US" dirty="0"/>
              <a:t>함수는 문자를 숫자로 </a:t>
            </a:r>
            <a:r>
              <a:rPr lang="ko-KR" altLang="en-US" dirty="0" smtClean="0"/>
              <a:t>변환</a:t>
            </a:r>
            <a:r>
              <a:rPr lang="en-US" altLang="ko-KR" dirty="0" smtClean="0"/>
              <a:t>. </a:t>
            </a:r>
            <a:r>
              <a:rPr lang="ko-KR" altLang="en-US" dirty="0"/>
              <a:t>문자가 </a:t>
            </a:r>
            <a:r>
              <a:rPr lang="en-US" altLang="ko-KR" dirty="0"/>
              <a:t>A</a:t>
            </a:r>
            <a:r>
              <a:rPr lang="ko-KR" altLang="en-US" dirty="0"/>
              <a:t>를 숫자로 </a:t>
            </a:r>
            <a:r>
              <a:rPr lang="ko-KR" altLang="en-US" dirty="0" smtClean="0"/>
              <a:t>변환한 값</a:t>
            </a:r>
            <a:r>
              <a:rPr lang="en-US" altLang="ko-KR" dirty="0"/>
              <a:t>(65)</a:t>
            </a:r>
            <a:r>
              <a:rPr lang="ko-KR" altLang="en-US" dirty="0"/>
              <a:t>과 </a:t>
            </a:r>
            <a:r>
              <a:rPr lang="en-US" altLang="ko-KR" dirty="0"/>
              <a:t>Z</a:t>
            </a:r>
            <a:r>
              <a:rPr lang="ko-KR" altLang="en-US" dirty="0"/>
              <a:t>를 숫자로 변환한 값</a:t>
            </a:r>
            <a:r>
              <a:rPr lang="en-US" altLang="ko-KR" dirty="0"/>
              <a:t>(90) </a:t>
            </a:r>
            <a:r>
              <a:rPr lang="ko-KR" altLang="en-US" dirty="0"/>
              <a:t>사이에 있다면 대문자로 인식해서 </a:t>
            </a:r>
            <a:r>
              <a:rPr lang="en-US" altLang="ko-KR" dirty="0"/>
              <a:t>13</a:t>
            </a:r>
            <a:r>
              <a:rPr lang="ko-KR" altLang="en-US" dirty="0" smtClean="0"/>
              <a:t>행에서 소문자로 변환</a:t>
            </a:r>
            <a:endParaRPr lang="en-US" altLang="ko-KR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05" y="1175506"/>
            <a:ext cx="6390710" cy="170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8883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095" y="1088740"/>
            <a:ext cx="409523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000" b="1" spc="-15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Chapter</a:t>
            </a:r>
            <a:r>
              <a:rPr lang="en-US" altLang="ko-KR" sz="40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</a:t>
            </a:r>
            <a:r>
              <a:rPr lang="en-US" altLang="ko-KR" sz="66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03</a:t>
            </a:r>
          </a:p>
          <a:p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프로그래밍</a:t>
            </a:r>
            <a:r>
              <a:rPr lang="en-US" altLang="ko-KR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3600" dirty="0" err="1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조건문</a:t>
            </a:r>
            <a:endParaRPr lang="ko-KR" altLang="en-US" sz="5400" b="1" spc="-30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910399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문으로 참과 거짓을 </a:t>
            </a:r>
            <a:r>
              <a:rPr lang="ko-KR" altLang="en-US" spc="-150" dirty="0" smtClean="0"/>
              <a:t>가려봅시다 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기본 </a:t>
            </a:r>
            <a:r>
              <a:rPr lang="en-US" altLang="ko-KR" dirty="0"/>
              <a:t>if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pPr lvl="1"/>
            <a:r>
              <a:rPr lang="en-US" altLang="ko-KR" dirty="0"/>
              <a:t>if </a:t>
            </a:r>
            <a:r>
              <a:rPr lang="ko-KR" altLang="en-US" dirty="0" err="1"/>
              <a:t>조건식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에서 조건식이 참이면 실행할 문장이 처리되고</a:t>
            </a:r>
            <a:r>
              <a:rPr lang="en-US" altLang="ko-KR" dirty="0"/>
              <a:t>, </a:t>
            </a:r>
            <a:r>
              <a:rPr lang="ko-KR" altLang="en-US" dirty="0" smtClean="0"/>
              <a:t>거짓이면 </a:t>
            </a:r>
            <a:r>
              <a:rPr lang="ko-KR" altLang="en-US" dirty="0"/>
              <a:t>아무것도 실행하지 않고 프로그램을 </a:t>
            </a:r>
            <a:r>
              <a:rPr lang="ko-KR" altLang="en-US" dirty="0" smtClean="0"/>
              <a:t>종료</a:t>
            </a:r>
            <a:endParaRPr lang="en-US" altLang="ko-KR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576" y="1871398"/>
            <a:ext cx="4410490" cy="2962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746" y="2198725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655" y="4959170"/>
            <a:ext cx="6805350" cy="164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59" y="6084296"/>
            <a:ext cx="664009" cy="299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290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문으로 참과 거짓을 </a:t>
            </a:r>
            <a:r>
              <a:rPr lang="ko-KR" altLang="en-US" spc="-150" dirty="0" smtClean="0"/>
              <a:t>가려봅시다 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들여 쓰기를 하지 않아 실행 하지 않아야 할 </a:t>
            </a:r>
            <a:r>
              <a:rPr lang="en-US" altLang="ko-KR" dirty="0" smtClean="0"/>
              <a:t>5</a:t>
            </a:r>
            <a:r>
              <a:rPr lang="ko-KR" altLang="en-US" dirty="0" smtClean="0"/>
              <a:t>행까지 실행 됨</a:t>
            </a:r>
            <a:r>
              <a:rPr lang="en-US" altLang="ko-KR" dirty="0" smtClean="0"/>
              <a:t>. </a:t>
            </a:r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다음과 같이 줄 바꿈을 수정하여 실행</a:t>
            </a:r>
            <a:endParaRPr lang="en-US" altLang="ko-KR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97" y="1004256"/>
            <a:ext cx="75819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7580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문으로 참과 거짓을 </a:t>
            </a:r>
            <a:r>
              <a:rPr lang="ko-KR" altLang="en-US" spc="-150" dirty="0" smtClean="0"/>
              <a:t>가려봅시다 </a:t>
            </a:r>
            <a:r>
              <a:rPr lang="en-US" altLang="ko-KR" dirty="0" smtClean="0"/>
              <a:t>(4)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 err="1"/>
          </a:p>
          <a:p>
            <a:pPr lvl="1"/>
            <a:endParaRPr lang="en-US" altLang="ko-KR" dirty="0" err="1" smtClean="0"/>
          </a:p>
          <a:p>
            <a:pPr lvl="1"/>
            <a:endParaRPr lang="en-US" altLang="ko-KR" dirty="0" err="1"/>
          </a:p>
          <a:p>
            <a:pPr lvl="1"/>
            <a:endParaRPr lang="en-US" altLang="ko-KR" dirty="0" err="1" smtClean="0"/>
          </a:p>
          <a:p>
            <a:pPr lvl="1"/>
            <a:endParaRPr lang="en-US" altLang="ko-KR" dirty="0" err="1"/>
          </a:p>
          <a:p>
            <a:pPr lvl="1"/>
            <a:endParaRPr lang="en-US" altLang="ko-KR" dirty="0" err="1" smtClean="0"/>
          </a:p>
          <a:p>
            <a:pPr lvl="1"/>
            <a:endParaRPr lang="en-US" altLang="ko-KR" dirty="0" err="1"/>
          </a:p>
          <a:p>
            <a:pPr lvl="1"/>
            <a:endParaRPr lang="en-US" altLang="ko-KR" dirty="0" err="1" smtClean="0"/>
          </a:p>
          <a:p>
            <a:pPr lvl="1"/>
            <a:endParaRPr lang="en-US" altLang="ko-KR" dirty="0" err="1"/>
          </a:p>
          <a:p>
            <a:pPr lvl="1"/>
            <a:r>
              <a:rPr lang="ko-KR" altLang="en-US" dirty="0" smtClean="0"/>
              <a:t>들여쓰기 잘못으로 오류 발생한 경우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06" y="863715"/>
            <a:ext cx="7110790" cy="310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447" y="5071271"/>
            <a:ext cx="6513949" cy="1050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28264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문으로 참과 거짓을 </a:t>
            </a:r>
            <a:r>
              <a:rPr lang="ko-KR" altLang="en-US" spc="-150" dirty="0" smtClean="0"/>
              <a:t>가려봅시다 </a:t>
            </a:r>
            <a:r>
              <a:rPr lang="en-US" altLang="ko-KR" dirty="0" smtClean="0"/>
              <a:t>(5)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err="1" smtClean="0"/>
              <a:t>if~else</a:t>
            </a:r>
            <a:r>
              <a:rPr lang="en-US" altLang="ko-KR" dirty="0" smtClean="0"/>
              <a:t> </a:t>
            </a:r>
            <a:r>
              <a:rPr lang="ko-KR" altLang="en-US" dirty="0" smtClean="0"/>
              <a:t>문</a:t>
            </a:r>
            <a:endParaRPr lang="en-US" altLang="ko-KR" dirty="0" smtClean="0"/>
          </a:p>
          <a:p>
            <a:pPr lvl="1"/>
            <a:r>
              <a:rPr lang="ko-KR" altLang="en-US" dirty="0"/>
              <a:t>참일 때 실행하는 문장과 거짓일 때 실행하는 문장이 다를 </a:t>
            </a:r>
            <a:r>
              <a:rPr lang="ko-KR" altLang="en-US" dirty="0" smtClean="0"/>
              <a:t>때 사용</a:t>
            </a:r>
            <a:endParaRPr lang="en-US" altLang="ko-KR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25" y="1913378"/>
            <a:ext cx="6629400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7487" y="5817562"/>
            <a:ext cx="18669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3922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문으로 참과 거짓을 </a:t>
            </a:r>
            <a:r>
              <a:rPr lang="ko-KR" altLang="en-US" spc="-150" dirty="0" smtClean="0"/>
              <a:t>가려봅시다 </a:t>
            </a:r>
            <a:r>
              <a:rPr lang="en-US" altLang="ko-KR" dirty="0" smtClean="0"/>
              <a:t>(6)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93662" indent="0">
              <a:buNone/>
            </a:pPr>
            <a:r>
              <a:rPr lang="en-US" altLang="ko-KR" dirty="0" err="1"/>
              <a:t> </a:t>
            </a:r>
            <a:endParaRPr lang="en-US" altLang="ko-KR" dirty="0" smtClean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469" y="908720"/>
            <a:ext cx="4156019" cy="400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72" y="2202327"/>
            <a:ext cx="3253446" cy="2700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522" y="4360457"/>
            <a:ext cx="688550" cy="29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438" y="5049180"/>
            <a:ext cx="19240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393" y="5079887"/>
            <a:ext cx="13811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68953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문으로 참과 거짓을 </a:t>
            </a:r>
            <a:r>
              <a:rPr lang="ko-KR" altLang="en-US" spc="-150" dirty="0" smtClean="0"/>
              <a:t>가려봅시다 </a:t>
            </a:r>
            <a:r>
              <a:rPr lang="en-US" altLang="ko-KR" dirty="0" smtClean="0"/>
              <a:t>(7)</a:t>
            </a:r>
            <a:endParaRPr lang="ko-KR" alt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" y="1241425"/>
            <a:ext cx="802005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304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if</a:t>
            </a:r>
            <a:r>
              <a:rPr lang="ko-KR" altLang="en-US" spc="-150" dirty="0"/>
              <a:t>문이 </a:t>
            </a:r>
            <a:r>
              <a:rPr lang="ko-KR" altLang="en-US" spc="-150" dirty="0" smtClean="0"/>
              <a:t>들어가면 어떻게 </a:t>
            </a:r>
            <a:r>
              <a:rPr lang="ko-KR" altLang="en-US" spc="-150" dirty="0"/>
              <a:t>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if ~ else </a:t>
            </a:r>
            <a:r>
              <a:rPr lang="en-US" altLang="ko-KR" dirty="0" smtClean="0"/>
              <a:t>~ if </a:t>
            </a:r>
            <a:r>
              <a:rPr lang="en-US" altLang="ko-KR" dirty="0"/>
              <a:t>~ else</a:t>
            </a:r>
            <a:r>
              <a:rPr lang="ko-KR" altLang="en-US" dirty="0"/>
              <a:t>문</a:t>
            </a:r>
            <a:endParaRPr lang="en-US" altLang="ko-K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54" y="1353244"/>
            <a:ext cx="7110790" cy="4569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594" y="5923205"/>
            <a:ext cx="16954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6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if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if</a:t>
            </a:r>
            <a:r>
              <a:rPr lang="ko-KR" altLang="en-US" spc="-150" dirty="0"/>
              <a:t>문이 </a:t>
            </a:r>
            <a:r>
              <a:rPr lang="ko-KR" altLang="en-US" spc="-150" dirty="0" smtClean="0"/>
              <a:t>들어가면 어떻게 </a:t>
            </a:r>
            <a:r>
              <a:rPr lang="ko-KR" altLang="en-US" spc="-150" dirty="0"/>
              <a:t>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(5)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if ~ </a:t>
            </a:r>
            <a:r>
              <a:rPr lang="en-US" altLang="ko-KR" dirty="0" err="1" smtClean="0"/>
              <a:t>elif</a:t>
            </a:r>
            <a:r>
              <a:rPr lang="en-US" altLang="ko-KR" dirty="0" smtClean="0"/>
              <a:t> ~ </a:t>
            </a:r>
            <a:r>
              <a:rPr lang="en-US" altLang="ko-KR" dirty="0"/>
              <a:t>else</a:t>
            </a:r>
            <a:r>
              <a:rPr lang="ko-KR" altLang="en-US" dirty="0"/>
              <a:t>문</a:t>
            </a:r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1338263"/>
            <a:ext cx="661035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6008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095" y="1088740"/>
            <a:ext cx="4128053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000" b="1" spc="-15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Chapter</a:t>
            </a:r>
            <a:r>
              <a:rPr lang="en-US" altLang="ko-KR" sz="40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</a:t>
            </a:r>
            <a:r>
              <a:rPr lang="en-US" altLang="ko-KR" sz="66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04</a:t>
            </a:r>
          </a:p>
          <a:p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프로그래밍</a:t>
            </a:r>
            <a:r>
              <a:rPr lang="en-US" altLang="ko-KR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3600" dirty="0" err="1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반복문</a:t>
            </a:r>
            <a:endParaRPr lang="ko-KR" altLang="en-US" sz="5400" b="1" spc="-30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05140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단순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문으로 일거리를 </a:t>
            </a:r>
            <a:r>
              <a:rPr lang="ko-KR" altLang="en-US" spc="-150" dirty="0"/>
              <a:t>줄여봅시다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문의 개념</a:t>
            </a:r>
            <a:endParaRPr lang="en-US" altLang="ko-KR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686" y="1556499"/>
            <a:ext cx="65436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1117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단순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문으로 일거리를 </a:t>
            </a:r>
            <a:r>
              <a:rPr lang="ko-KR" altLang="en-US" spc="-150" dirty="0"/>
              <a:t>줄여봅시다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for</a:t>
            </a:r>
            <a:r>
              <a:rPr lang="ko-KR" altLang="en-US" dirty="0"/>
              <a:t>문의 </a:t>
            </a:r>
            <a:r>
              <a:rPr lang="ko-KR" altLang="en-US" dirty="0" smtClean="0"/>
              <a:t>작동</a:t>
            </a:r>
            <a:endParaRPr lang="en-US" altLang="ko-KR" dirty="0" smtClean="0"/>
          </a:p>
          <a:p>
            <a:pPr lvl="1"/>
            <a:r>
              <a:rPr lang="en-US" altLang="ko-KR" dirty="0"/>
              <a:t>range( ) </a:t>
            </a:r>
            <a:r>
              <a:rPr lang="ko-KR" altLang="en-US" dirty="0"/>
              <a:t>함수는 지정된 범위의 값을 </a:t>
            </a:r>
            <a:r>
              <a:rPr lang="ko-KR" altLang="en-US" dirty="0" smtClean="0"/>
              <a:t>반환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range(0, 3, 1)</a:t>
            </a:r>
            <a:r>
              <a:rPr lang="ko-KR" altLang="en-US" dirty="0"/>
              <a:t>은 </a:t>
            </a:r>
            <a:r>
              <a:rPr lang="en-US" altLang="ko-KR" dirty="0"/>
              <a:t>[0, 1, 2]</a:t>
            </a:r>
            <a:r>
              <a:rPr lang="ko-KR" altLang="en-US" dirty="0"/>
              <a:t>와 </a:t>
            </a:r>
            <a:r>
              <a:rPr lang="ko-KR" altLang="en-US" dirty="0" smtClean="0"/>
              <a:t>같음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15" y="1758293"/>
            <a:ext cx="4715683" cy="1078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274" y="3450770"/>
            <a:ext cx="4767017" cy="770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873" y="4357528"/>
            <a:ext cx="4715525" cy="740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170" y="5237322"/>
            <a:ext cx="4747228" cy="105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7874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단순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문으로 일거리를 </a:t>
            </a:r>
            <a:r>
              <a:rPr lang="ko-KR" altLang="en-US" spc="-150" dirty="0"/>
              <a:t>줄여봅시다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/>
              <a:t>print()</a:t>
            </a:r>
            <a:r>
              <a:rPr lang="ko-KR" altLang="en-US" dirty="0"/>
              <a:t>에서 </a:t>
            </a:r>
            <a:r>
              <a:rPr lang="en-US" altLang="ko-KR" dirty="0" err="1"/>
              <a:t>i</a:t>
            </a:r>
            <a:r>
              <a:rPr lang="ko-KR" altLang="en-US" dirty="0"/>
              <a:t>값을 사용해서 제일 앞에 숫자를 </a:t>
            </a:r>
            <a:r>
              <a:rPr lang="ko-KR" altLang="en-US" dirty="0" smtClean="0"/>
              <a:t>출력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/>
              <a:t>range() </a:t>
            </a:r>
            <a:r>
              <a:rPr lang="ko-KR" altLang="en-US" dirty="0"/>
              <a:t>함수의 </a:t>
            </a:r>
            <a:r>
              <a:rPr lang="ko-KR" altLang="en-US" dirty="0" smtClean="0"/>
              <a:t>시작 값을 </a:t>
            </a:r>
            <a:r>
              <a:rPr lang="en-US" altLang="ko-KR" dirty="0"/>
              <a:t>2</a:t>
            </a:r>
            <a:r>
              <a:rPr lang="ko-KR" altLang="en-US" dirty="0"/>
              <a:t>로 하고 </a:t>
            </a:r>
            <a:r>
              <a:rPr lang="en-US" altLang="ko-KR" dirty="0" err="1"/>
              <a:t>i</a:t>
            </a:r>
            <a:r>
              <a:rPr lang="ko-KR" altLang="en-US" dirty="0"/>
              <a:t>값을 </a:t>
            </a:r>
            <a:r>
              <a:rPr lang="en-US" altLang="ko-KR" dirty="0"/>
              <a:t>1</a:t>
            </a:r>
            <a:r>
              <a:rPr lang="ko-KR" altLang="en-US" dirty="0"/>
              <a:t>씩 줄여가며</a:t>
            </a:r>
            <a:r>
              <a:rPr lang="en-US" altLang="ko-KR" dirty="0"/>
              <a:t>(0</a:t>
            </a:r>
            <a:r>
              <a:rPr lang="ko-KR" altLang="en-US" dirty="0"/>
              <a:t>이 될 때까지</a:t>
            </a:r>
            <a:r>
              <a:rPr lang="en-US" altLang="ko-KR" dirty="0"/>
              <a:t>) print() </a:t>
            </a:r>
            <a:r>
              <a:rPr lang="ko-KR" altLang="en-US" dirty="0"/>
              <a:t>함수를 세 번 실행하는 프로그램</a:t>
            </a:r>
            <a:endParaRPr lang="en-US" altLang="ko-KR" dirty="0"/>
          </a:p>
          <a:p>
            <a:pPr lvl="1"/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0" y="1327413"/>
            <a:ext cx="6840760" cy="2094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0" y="4440060"/>
            <a:ext cx="6840760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283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단순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문으로 일거리를 </a:t>
            </a:r>
            <a:r>
              <a:rPr lang="ko-KR" altLang="en-US" spc="-150" dirty="0"/>
              <a:t>줄여봅시다</a:t>
            </a:r>
            <a:r>
              <a:rPr lang="en-US" altLang="ko-KR" dirty="0" smtClean="0"/>
              <a:t>(4)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/>
              <a:t>1~5</a:t>
            </a:r>
            <a:r>
              <a:rPr lang="ko-KR" altLang="en-US" dirty="0"/>
              <a:t>까지 숫자들을 차례대로 </a:t>
            </a:r>
            <a:r>
              <a:rPr lang="ko-KR" altLang="en-US" dirty="0" smtClean="0"/>
              <a:t>출력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출력 </a:t>
            </a:r>
            <a:r>
              <a:rPr lang="ko-KR" altLang="en-US" dirty="0"/>
              <a:t>결과가 </a:t>
            </a:r>
            <a:r>
              <a:rPr lang="ko-KR" altLang="en-US" dirty="0" smtClean="0"/>
              <a:t>한 </a:t>
            </a:r>
            <a:r>
              <a:rPr lang="ko-KR" altLang="en-US" dirty="0"/>
              <a:t>줄에 </a:t>
            </a:r>
            <a:r>
              <a:rPr lang="ko-KR" altLang="en-US" dirty="0" smtClean="0"/>
              <a:t>나온 이유는 </a:t>
            </a:r>
            <a:r>
              <a:rPr lang="en-US" altLang="ko-KR" dirty="0" smtClean="0"/>
              <a:t>print</a:t>
            </a:r>
            <a:r>
              <a:rPr lang="en-US" altLang="ko-KR" dirty="0"/>
              <a:t>() </a:t>
            </a:r>
            <a:r>
              <a:rPr lang="ko-KR" altLang="en-US" dirty="0"/>
              <a:t>함수의 마지막에 </a:t>
            </a:r>
            <a:r>
              <a:rPr lang="en-US" altLang="ko-KR" dirty="0"/>
              <a:t>end=“ ”</a:t>
            </a:r>
            <a:r>
              <a:rPr lang="ko-KR" altLang="en-US" dirty="0"/>
              <a:t>를 </a:t>
            </a:r>
            <a:r>
              <a:rPr lang="ko-KR" altLang="en-US" dirty="0" smtClean="0"/>
              <a:t>썼기 때문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331" y="1493785"/>
            <a:ext cx="626745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87047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단순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문으로 일거리를 </a:t>
            </a:r>
            <a:r>
              <a:rPr lang="ko-KR" altLang="en-US" spc="-150" dirty="0"/>
              <a:t>줄여봅시다</a:t>
            </a:r>
            <a:r>
              <a:rPr lang="en-US" altLang="ko-KR" dirty="0" smtClean="0"/>
              <a:t>(5)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For</a:t>
            </a:r>
            <a:r>
              <a:rPr lang="ko-KR" altLang="en-US" dirty="0" smtClean="0"/>
              <a:t>문을 활용하여 합계 구하기</a:t>
            </a:r>
            <a:endParaRPr lang="en-US" altLang="ko-KR" dirty="0" smtClean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부터 </a:t>
            </a:r>
            <a:r>
              <a:rPr lang="en-US" altLang="ko-KR" dirty="0"/>
              <a:t>10</a:t>
            </a:r>
            <a:r>
              <a:rPr lang="ko-KR" altLang="en-US" smtClean="0"/>
              <a:t>까지의 합</a:t>
            </a:r>
            <a:endParaRPr lang="en-US" altLang="ko-K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427" y="1331993"/>
            <a:ext cx="4378612" cy="1844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778" y="3374242"/>
            <a:ext cx="6393261" cy="3273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8585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for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문이 들어가면 </a:t>
            </a:r>
            <a:r>
              <a:rPr lang="ko-KR" altLang="en-US" spc="-150" dirty="0"/>
              <a:t>어떻게 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중첩 </a:t>
            </a:r>
            <a:r>
              <a:rPr lang="en-US" altLang="ko-KR" dirty="0"/>
              <a:t>for</a:t>
            </a:r>
            <a:r>
              <a:rPr lang="ko-KR" altLang="en-US" dirty="0" smtClean="0"/>
              <a:t>문의 개념</a:t>
            </a:r>
            <a:endParaRPr lang="en-US" altLang="ko-KR" dirty="0" smtClean="0"/>
          </a:p>
          <a:p>
            <a:pPr lvl="1"/>
            <a:r>
              <a:rPr lang="ko-KR" altLang="en-US" dirty="0"/>
              <a:t>중첩 </a:t>
            </a:r>
            <a:r>
              <a:rPr lang="en-US" altLang="ko-KR" dirty="0"/>
              <a:t>for</a:t>
            </a:r>
            <a:r>
              <a:rPr lang="ko-KR" altLang="en-US" dirty="0"/>
              <a:t>문은 </a:t>
            </a:r>
            <a:r>
              <a:rPr lang="en-US" altLang="ko-KR" dirty="0"/>
              <a:t>for</a:t>
            </a:r>
            <a:r>
              <a:rPr lang="ko-KR" altLang="en-US" dirty="0"/>
              <a:t>문 내부에 또 다른 </a:t>
            </a:r>
            <a:r>
              <a:rPr lang="en-US" altLang="ko-KR" dirty="0"/>
              <a:t>for</a:t>
            </a:r>
            <a:r>
              <a:rPr lang="ko-KR" altLang="en-US" dirty="0"/>
              <a:t>문이 들어있는 </a:t>
            </a:r>
            <a:r>
              <a:rPr lang="ko-KR" altLang="en-US" dirty="0" smtClean="0"/>
              <a:t>형태</a:t>
            </a:r>
            <a:endParaRPr lang="en-US" altLang="ko-K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113" y="1943835"/>
            <a:ext cx="6581775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213" y="5582385"/>
            <a:ext cx="15906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0260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for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문이 들어가면 </a:t>
            </a:r>
            <a:r>
              <a:rPr lang="ko-KR" altLang="en-US" spc="-150" dirty="0"/>
              <a:t>어떻게 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중첩 </a:t>
            </a:r>
            <a:r>
              <a:rPr lang="en-US" altLang="ko-KR" dirty="0" smtClean="0"/>
              <a:t>for</a:t>
            </a:r>
            <a:r>
              <a:rPr lang="ko-KR" altLang="en-US" dirty="0" smtClean="0"/>
              <a:t>문의 기본 코드</a:t>
            </a:r>
            <a:endParaRPr lang="en-US" altLang="ko-KR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448780"/>
            <a:ext cx="8009520" cy="3301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3125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for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문이 들어가면 </a:t>
            </a:r>
            <a:r>
              <a:rPr lang="ko-KR" altLang="en-US" spc="-150" dirty="0"/>
              <a:t>어떻게 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중첩 </a:t>
            </a:r>
            <a:r>
              <a:rPr lang="en-US" altLang="ko-KR" dirty="0"/>
              <a:t>for</a:t>
            </a:r>
            <a:r>
              <a:rPr lang="ko-KR" altLang="en-US" dirty="0"/>
              <a:t>문의 실행 횟수는 ‘바깥 </a:t>
            </a:r>
            <a:r>
              <a:rPr lang="en-US" altLang="ko-KR" dirty="0" smtClean="0"/>
              <a:t>for</a:t>
            </a:r>
            <a:r>
              <a:rPr lang="ko-KR" altLang="en-US" dirty="0"/>
              <a:t>문 반복 횟수 </a:t>
            </a:r>
            <a:r>
              <a:rPr lang="en-US" altLang="ko-KR" dirty="0"/>
              <a:t>× </a:t>
            </a:r>
            <a:r>
              <a:rPr lang="ko-KR" altLang="en-US" dirty="0"/>
              <a:t>안쪽 </a:t>
            </a:r>
            <a:r>
              <a:rPr lang="en-US" altLang="ko-KR" dirty="0"/>
              <a:t>for</a:t>
            </a:r>
            <a:r>
              <a:rPr lang="ko-KR" altLang="en-US" dirty="0"/>
              <a:t>문 반복 횟수</a:t>
            </a:r>
            <a:r>
              <a:rPr lang="ko-KR" altLang="en-US" dirty="0" smtClean="0"/>
              <a:t>’</a:t>
            </a:r>
            <a:endParaRPr lang="en-US" altLang="ko-KR" dirty="0" smtClean="0"/>
          </a:p>
          <a:p>
            <a:pPr lvl="1"/>
            <a:r>
              <a:rPr lang="ko-KR" altLang="en-US" dirty="0"/>
              <a:t>처리되는 </a:t>
            </a:r>
            <a:r>
              <a:rPr lang="ko-KR" altLang="en-US" dirty="0" smtClean="0"/>
              <a:t>순서</a:t>
            </a:r>
            <a:endParaRPr lang="en-US" altLang="ko-KR" dirty="0" smtClean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963" y="1758653"/>
            <a:ext cx="5777352" cy="4100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11745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for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문이 들어가면 </a:t>
            </a:r>
            <a:r>
              <a:rPr lang="ko-KR" altLang="en-US" spc="-150" dirty="0"/>
              <a:t>어떻게 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(6)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93662" indent="0">
              <a:buNone/>
            </a:pPr>
            <a:r>
              <a:rPr lang="en-US" altLang="ko-KR" dirty="0" err="1"/>
              <a:t> </a:t>
            </a:r>
            <a:endParaRPr lang="en-US" altLang="ko-KR" dirty="0" smtClean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009650"/>
            <a:ext cx="73914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59028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/>
              <a:t>for</a:t>
            </a:r>
            <a:r>
              <a:rPr lang="ko-KR" altLang="en-US" spc="-150" dirty="0"/>
              <a:t>문 안에 </a:t>
            </a:r>
            <a:r>
              <a:rPr lang="en-US" altLang="ko-KR" spc="-150" dirty="0"/>
              <a:t>for</a:t>
            </a:r>
            <a:r>
              <a:rPr lang="ko-KR" altLang="en-US" spc="-150" dirty="0" smtClean="0"/>
              <a:t>문이 들어가면 </a:t>
            </a:r>
            <a:r>
              <a:rPr lang="ko-KR" altLang="en-US" spc="-150" dirty="0"/>
              <a:t>어떻게 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(7)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구구단 </a:t>
            </a:r>
            <a:r>
              <a:rPr lang="ko-KR" altLang="en-US" dirty="0" smtClean="0"/>
              <a:t>출력 프로그램 완성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기존 구구단 결과는 세로로 출력되므로 결과를 보려면 스크롤을 움직여야 함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오른쪽 여백에 구구단 결과를 보여주기 위해 프로그램을 수정</a:t>
            </a:r>
            <a:endParaRPr lang="en-US" altLang="ko-KR" dirty="0" smtClean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99" y="2242616"/>
            <a:ext cx="8505945" cy="39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429" y="5851641"/>
            <a:ext cx="1404215" cy="653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96115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 smtClean="0"/>
              <a:t>While</a:t>
            </a:r>
            <a:r>
              <a:rPr lang="ko-KR" altLang="en-US" spc="-150" dirty="0" smtClean="0"/>
              <a:t>문은 언제 </a:t>
            </a:r>
            <a:r>
              <a:rPr lang="ko-KR" altLang="en-US" spc="-150" dirty="0"/>
              <a:t>사용할까요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For</a:t>
            </a:r>
            <a:r>
              <a:rPr lang="ko-KR" altLang="en-US" dirty="0" smtClean="0"/>
              <a:t>문과 </a:t>
            </a:r>
            <a:r>
              <a:rPr lang="en-US" altLang="ko-KR" dirty="0" smtClean="0"/>
              <a:t>while</a:t>
            </a:r>
            <a:r>
              <a:rPr lang="ko-KR" altLang="en-US" dirty="0" smtClean="0"/>
              <a:t>문의 비교</a:t>
            </a:r>
            <a:endParaRPr lang="en-US" altLang="ko-KR" dirty="0" smtClean="0"/>
          </a:p>
          <a:p>
            <a:pPr lvl="1"/>
            <a:r>
              <a:rPr lang="en-US" altLang="ko-KR" dirty="0"/>
              <a:t>for</a:t>
            </a:r>
            <a:r>
              <a:rPr lang="ko-KR" altLang="en-US" dirty="0"/>
              <a:t>문의 </a:t>
            </a:r>
            <a:r>
              <a:rPr lang="ko-KR" altLang="en-US" dirty="0" smtClean="0"/>
              <a:t>형식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/>
              <a:t>while</a:t>
            </a:r>
            <a:r>
              <a:rPr lang="ko-KR" altLang="en-US" dirty="0"/>
              <a:t>문은 </a:t>
            </a:r>
            <a:r>
              <a:rPr lang="en-US" altLang="ko-KR" dirty="0"/>
              <a:t>while</a:t>
            </a:r>
            <a:r>
              <a:rPr lang="ko-KR" altLang="en-US" dirty="0"/>
              <a:t>문 안의 </a:t>
            </a:r>
            <a:r>
              <a:rPr lang="ko-KR" altLang="en-US" dirty="0" err="1"/>
              <a:t>조건식을</a:t>
            </a:r>
            <a:r>
              <a:rPr lang="ko-KR" altLang="en-US" dirty="0"/>
              <a:t> 확인하여 값이 참이면 ‘문장’을 </a:t>
            </a:r>
            <a:r>
              <a:rPr lang="ko-KR" altLang="en-US" dirty="0" smtClean="0"/>
              <a:t>수행</a:t>
            </a:r>
            <a:r>
              <a:rPr lang="en-US" altLang="ko-KR" dirty="0" smtClean="0"/>
              <a:t>. </a:t>
            </a:r>
            <a:r>
              <a:rPr lang="ko-KR" altLang="en-US" dirty="0" smtClean="0"/>
              <a:t>조건식이 </a:t>
            </a:r>
            <a:r>
              <a:rPr lang="ko-KR" altLang="en-US" dirty="0"/>
              <a:t>참인 동안 계속 </a:t>
            </a:r>
            <a:r>
              <a:rPr lang="ko-KR" altLang="en-US" dirty="0" smtClean="0"/>
              <a:t>반복함</a:t>
            </a:r>
            <a:endParaRPr lang="en-US" altLang="ko-K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951" y="1818407"/>
            <a:ext cx="58293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487" y="3564015"/>
            <a:ext cx="363855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28" y="5775094"/>
            <a:ext cx="1447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855" y="3564015"/>
            <a:ext cx="2843605" cy="157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1349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50" dirty="0" smtClean="0"/>
              <a:t>While</a:t>
            </a:r>
            <a:r>
              <a:rPr lang="ko-KR" altLang="en-US" spc="-150" dirty="0" smtClean="0"/>
              <a:t>문은 언제 </a:t>
            </a:r>
            <a:r>
              <a:rPr lang="ko-KR" altLang="en-US" spc="-150" dirty="0"/>
              <a:t>사용할까요</a:t>
            </a:r>
            <a:r>
              <a:rPr lang="en-US" altLang="ko-KR" spc="-150" dirty="0" smtClean="0"/>
              <a:t>?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For</a:t>
            </a:r>
            <a:r>
              <a:rPr lang="ko-KR" altLang="en-US" dirty="0" smtClean="0"/>
              <a:t>문과 </a:t>
            </a:r>
            <a:r>
              <a:rPr lang="en-US" altLang="ko-KR" dirty="0"/>
              <a:t>while</a:t>
            </a:r>
            <a:r>
              <a:rPr lang="ko-KR" altLang="en-US" dirty="0" smtClean="0"/>
              <a:t>문 비교</a:t>
            </a:r>
            <a:endParaRPr lang="en-US" altLang="ko-K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10" y="1359909"/>
            <a:ext cx="6519925" cy="1998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58" y="3626728"/>
            <a:ext cx="6519925" cy="2528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38714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095" y="1088740"/>
            <a:ext cx="4128053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000" b="1" spc="-15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Chapter</a:t>
            </a:r>
            <a:r>
              <a:rPr lang="en-US" altLang="ko-KR" sz="40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</a:t>
            </a:r>
            <a:r>
              <a:rPr lang="en-US" altLang="ko-KR" sz="66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05</a:t>
            </a:r>
          </a:p>
          <a:p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프로그래밍</a:t>
            </a:r>
            <a:r>
              <a:rPr lang="en-US" altLang="ko-KR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리스트</a:t>
            </a:r>
            <a:endParaRPr lang="ko-KR" altLang="en-US" sz="5400" b="1" spc="-30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08582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리스트의 </a:t>
            </a:r>
            <a:r>
              <a:rPr lang="ko-KR" altLang="en-US" dirty="0" smtClean="0"/>
              <a:t>이해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리스트는 </a:t>
            </a:r>
            <a:r>
              <a:rPr lang="ko-KR" altLang="en-US" dirty="0"/>
              <a:t>박스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  <a:r>
              <a:rPr lang="ko-KR" altLang="en-US" dirty="0"/>
              <a:t>를 한 줄로 붙인 뒤에 박스 전체의 이름</a:t>
            </a:r>
            <a:r>
              <a:rPr lang="en-US" altLang="ko-KR" dirty="0"/>
              <a:t>(aa)</a:t>
            </a:r>
            <a:r>
              <a:rPr lang="ko-KR" altLang="en-US" dirty="0"/>
              <a:t>을 </a:t>
            </a:r>
            <a:r>
              <a:rPr lang="ko-KR" altLang="en-US" dirty="0" smtClean="0"/>
              <a:t>지정</a:t>
            </a:r>
            <a:r>
              <a:rPr lang="en-US" altLang="ko-KR" dirty="0" smtClean="0"/>
              <a:t>. </a:t>
            </a:r>
          </a:p>
          <a:p>
            <a:pPr lvl="1"/>
            <a:r>
              <a:rPr lang="ko-KR" altLang="en-US" dirty="0" smtClean="0"/>
              <a:t>각각은 </a:t>
            </a:r>
            <a:r>
              <a:rPr lang="en-US" altLang="ko-KR" dirty="0"/>
              <a:t>aa[0], aa[1], aa[2], aa[3]</a:t>
            </a:r>
            <a:r>
              <a:rPr lang="ko-KR" altLang="en-US" dirty="0"/>
              <a:t>과 같이 번호</a:t>
            </a:r>
            <a:r>
              <a:rPr lang="en-US" altLang="ko-KR" dirty="0"/>
              <a:t>(</a:t>
            </a:r>
            <a:r>
              <a:rPr lang="ko-KR" altLang="en-US" dirty="0"/>
              <a:t>첨자</a:t>
            </a:r>
            <a:r>
              <a:rPr lang="en-US" altLang="ko-KR" dirty="0"/>
              <a:t>)</a:t>
            </a:r>
            <a:r>
              <a:rPr lang="ko-KR" altLang="en-US" dirty="0"/>
              <a:t>를 붙여서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630" y="1430956"/>
            <a:ext cx="7069410" cy="3789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04" y="1477752"/>
            <a:ext cx="1049726" cy="495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444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리스트를 사용하는 이유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4</a:t>
            </a:r>
            <a:r>
              <a:rPr lang="ko-KR" altLang="en-US" dirty="0"/>
              <a:t>개의 정수형 변수를 선언한 다음 변수에 </a:t>
            </a:r>
            <a:r>
              <a:rPr lang="ko-KR" altLang="en-US" dirty="0" smtClean="0"/>
              <a:t>값을 입력 받고 </a:t>
            </a:r>
            <a:r>
              <a:rPr lang="ko-KR" altLang="en-US" dirty="0"/>
              <a:t>합계를 출력하는 </a:t>
            </a:r>
            <a:r>
              <a:rPr lang="ko-KR" altLang="en-US" dirty="0" smtClean="0"/>
              <a:t>프로그램</a:t>
            </a:r>
            <a:endParaRPr lang="en-US" altLang="ko-KR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257" y="1808820"/>
            <a:ext cx="6013586" cy="47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83752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리스트 생성 방법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리스트를 </a:t>
            </a:r>
            <a:r>
              <a:rPr lang="ko-KR" altLang="en-US" dirty="0"/>
              <a:t>사용하지 않는다면 각각의 변수를 </a:t>
            </a:r>
            <a:r>
              <a:rPr lang="en-US" altLang="ko-KR" dirty="0"/>
              <a:t>a, b, c, d</a:t>
            </a:r>
            <a:r>
              <a:rPr lang="ko-KR" altLang="en-US" dirty="0"/>
              <a:t>와 같이 </a:t>
            </a:r>
            <a:r>
              <a:rPr lang="ko-KR" altLang="en-US" dirty="0" smtClean="0"/>
              <a:t>선언</a:t>
            </a:r>
            <a:r>
              <a:rPr lang="en-US" altLang="ko-KR" dirty="0" smtClean="0"/>
              <a:t>(</a:t>
            </a:r>
            <a:r>
              <a:rPr lang="ko-KR" altLang="en-US" dirty="0"/>
              <a:t>아래 ①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하지만 리스트를 사용하면 첨자를 넣어 </a:t>
            </a:r>
            <a:r>
              <a:rPr lang="en-US" altLang="ko-KR" dirty="0" smtClean="0"/>
              <a:t>aa[0], aa[1], aa[2], aa[3]</a:t>
            </a:r>
            <a:r>
              <a:rPr lang="ko-KR" altLang="en-US" dirty="0" smtClean="0"/>
              <a:t>과 같이 선언</a:t>
            </a:r>
            <a:r>
              <a:rPr lang="en-US" altLang="ko-KR" dirty="0" smtClean="0"/>
              <a:t>(</a:t>
            </a:r>
            <a:r>
              <a:rPr lang="ko-KR" altLang="en-US" dirty="0" smtClean="0"/>
              <a:t>아래 ②</a:t>
            </a:r>
            <a:r>
              <a:rPr lang="en-US" altLang="ko-KR" dirty="0" smtClean="0"/>
              <a:t>) </a:t>
            </a:r>
          </a:p>
          <a:p>
            <a:pPr lvl="1"/>
            <a:r>
              <a:rPr lang="ko-KR" altLang="en-US" dirty="0" smtClean="0"/>
              <a:t>이때 </a:t>
            </a:r>
            <a:r>
              <a:rPr lang="ko-KR" altLang="en-US" dirty="0"/>
              <a:t>항목이 </a:t>
            </a:r>
            <a:r>
              <a:rPr lang="en-US" altLang="ko-KR" dirty="0"/>
              <a:t>4</a:t>
            </a:r>
            <a:r>
              <a:rPr lang="ko-KR" altLang="en-US" dirty="0"/>
              <a:t>개인 리스트를 생성한다면 첨자는 </a:t>
            </a:r>
            <a:r>
              <a:rPr lang="en-US" altLang="ko-KR" dirty="0"/>
              <a:t>1~4</a:t>
            </a:r>
            <a:r>
              <a:rPr lang="ko-KR" altLang="en-US" dirty="0"/>
              <a:t>가 아닌 </a:t>
            </a:r>
            <a:r>
              <a:rPr lang="en-US" altLang="ko-KR" dirty="0"/>
              <a:t>0~3</a:t>
            </a:r>
            <a:r>
              <a:rPr lang="ko-KR" altLang="en-US" dirty="0"/>
              <a:t>을 </a:t>
            </a:r>
            <a:r>
              <a:rPr lang="ko-KR" altLang="en-US" dirty="0" smtClean="0"/>
              <a:t>사용함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endParaRPr lang="en-US" altLang="ko-KR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6" y="1272821"/>
            <a:ext cx="7321814" cy="470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857886"/>
            <a:ext cx="7348965" cy="49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61" y="3789040"/>
            <a:ext cx="62198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27048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(4)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리스트를 사용해서 </a:t>
            </a:r>
            <a:r>
              <a:rPr lang="en-US" altLang="ko-KR" dirty="0"/>
              <a:t>[</a:t>
            </a:r>
            <a:r>
              <a:rPr lang="ko-KR" altLang="en-US" dirty="0"/>
              <a:t>소스코드 </a:t>
            </a:r>
            <a:r>
              <a:rPr lang="en-US" altLang="ko-KR" dirty="0"/>
              <a:t>7-1</a:t>
            </a:r>
            <a:r>
              <a:rPr lang="en-US" altLang="ko-KR" dirty="0" smtClean="0"/>
              <a:t>]</a:t>
            </a:r>
            <a:r>
              <a:rPr lang="ko-KR" altLang="en-US" dirty="0" smtClean="0"/>
              <a:t> 수정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91" y="1337000"/>
            <a:ext cx="6615735" cy="5003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6803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(5)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 smtClean="0"/>
              <a:t>리스트의 일반적인 사용법</a:t>
            </a:r>
            <a:endParaRPr lang="en-US" altLang="ko-KR" dirty="0" smtClean="0"/>
          </a:p>
          <a:p>
            <a:pPr lvl="1"/>
            <a:r>
              <a:rPr lang="ko-KR" altLang="en-US" dirty="0"/>
              <a:t>빈 리스트와 리스트의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2"/>
            <a:r>
              <a:rPr lang="ko-KR" altLang="en-US" dirty="0"/>
              <a:t>비어있는 리스트를 만들고 ‘리스트이름</a:t>
            </a:r>
            <a:r>
              <a:rPr lang="en-US" altLang="ko-KR" dirty="0"/>
              <a:t>.append(</a:t>
            </a:r>
            <a:r>
              <a:rPr lang="ko-KR" altLang="en-US" dirty="0"/>
              <a:t>값</a:t>
            </a:r>
            <a:r>
              <a:rPr lang="en-US" altLang="ko-KR" dirty="0"/>
              <a:t>)’ </a:t>
            </a:r>
            <a:r>
              <a:rPr lang="ko-KR" altLang="en-US" dirty="0"/>
              <a:t>함수로 리스트에 하나씩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0" y="2303875"/>
            <a:ext cx="5801408" cy="2653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4545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(6)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en-US" altLang="ko-KR" dirty="0"/>
              <a:t>100</a:t>
            </a:r>
            <a:r>
              <a:rPr lang="ko-KR" altLang="en-US" dirty="0"/>
              <a:t>개의 리스트를 만들 경우 </a:t>
            </a:r>
            <a:r>
              <a:rPr lang="en-US" altLang="ko-KR" dirty="0"/>
              <a:t>append()</a:t>
            </a:r>
            <a:r>
              <a:rPr lang="ko-KR" altLang="en-US" dirty="0"/>
              <a:t>와 함께 </a:t>
            </a:r>
            <a:r>
              <a:rPr lang="en-US" altLang="ko-KR" dirty="0"/>
              <a:t>for</a:t>
            </a:r>
            <a:r>
              <a:rPr lang="ko-KR" altLang="en-US" dirty="0"/>
              <a:t>문을 </a:t>
            </a:r>
            <a:r>
              <a:rPr lang="ko-KR" altLang="en-US" dirty="0" smtClean="0"/>
              <a:t>활용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for</a:t>
            </a:r>
            <a:r>
              <a:rPr lang="ko-KR" altLang="en-US" dirty="0"/>
              <a:t>문으로 </a:t>
            </a:r>
            <a:r>
              <a:rPr lang="en-US" altLang="ko-KR" dirty="0"/>
              <a:t>100</a:t>
            </a:r>
            <a:r>
              <a:rPr lang="ko-KR" altLang="en-US" dirty="0"/>
              <a:t>번</a:t>
            </a:r>
            <a:r>
              <a:rPr lang="en-US" altLang="ko-KR" dirty="0"/>
              <a:t>(0</a:t>
            </a:r>
            <a:r>
              <a:rPr lang="ko-KR" altLang="en-US" dirty="0"/>
              <a:t>부터 </a:t>
            </a:r>
            <a:r>
              <a:rPr lang="en-US" altLang="ko-KR" dirty="0"/>
              <a:t>99</a:t>
            </a:r>
            <a:r>
              <a:rPr lang="ko-KR" altLang="en-US" dirty="0"/>
              <a:t>까지</a:t>
            </a:r>
            <a:r>
              <a:rPr lang="en-US" altLang="ko-KR" dirty="0"/>
              <a:t>)</a:t>
            </a:r>
            <a:r>
              <a:rPr lang="ko-KR" altLang="en-US" dirty="0"/>
              <a:t>을 반복해서 리스트이름</a:t>
            </a:r>
            <a:r>
              <a:rPr lang="en-US" altLang="ko-KR" dirty="0"/>
              <a:t>.append(0)</a:t>
            </a:r>
            <a:r>
              <a:rPr lang="ko-KR" altLang="en-US" dirty="0"/>
              <a:t>로 </a:t>
            </a:r>
            <a:r>
              <a:rPr lang="en-US" altLang="ko-KR" dirty="0"/>
              <a:t>100</a:t>
            </a:r>
            <a:r>
              <a:rPr lang="ko-KR" altLang="en-US" dirty="0"/>
              <a:t>개 크기의 리스트를 </a:t>
            </a:r>
            <a:r>
              <a:rPr lang="ko-KR" altLang="en-US" dirty="0" smtClean="0"/>
              <a:t>만듦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len</a:t>
            </a:r>
            <a:r>
              <a:rPr lang="en-US" altLang="ko-KR" dirty="0" smtClean="0"/>
              <a:t> </a:t>
            </a:r>
            <a:r>
              <a:rPr lang="ko-KR" altLang="en-US" dirty="0"/>
              <a:t>함수로 리스트의 개수를 </a:t>
            </a:r>
            <a:r>
              <a:rPr lang="ko-KR" altLang="en-US" dirty="0" smtClean="0"/>
              <a:t>확인</a:t>
            </a:r>
            <a:endParaRPr lang="ko-KR" altLang="en-US" dirty="0"/>
          </a:p>
          <a:p>
            <a:pPr marL="627063" lvl="2" indent="0">
              <a:buNone/>
            </a:pPr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50" y="1403775"/>
            <a:ext cx="5712342" cy="241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0986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(7)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en-US" altLang="ko-KR" dirty="0" smtClean="0"/>
              <a:t>For</a:t>
            </a:r>
            <a:r>
              <a:rPr lang="ko-KR" altLang="en-US" dirty="0" smtClean="0"/>
              <a:t>문 활용</a:t>
            </a:r>
            <a:endParaRPr lang="en-US" altLang="ko-KR" dirty="0" smtClean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615" y="1403775"/>
            <a:ext cx="6946062" cy="359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38" y="5049077"/>
            <a:ext cx="1320437" cy="73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20713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(8)</a:t>
            </a:r>
            <a:endParaRPr lang="ko-KR" alt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575" y="1088740"/>
            <a:ext cx="7333485" cy="51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863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(9)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2"/>
            <a:r>
              <a:rPr lang="ko-KR" altLang="en-US" dirty="0"/>
              <a:t>만약 리스트가 </a:t>
            </a:r>
            <a:r>
              <a:rPr lang="en-US" altLang="ko-KR" dirty="0"/>
              <a:t>100</a:t>
            </a:r>
            <a:r>
              <a:rPr lang="ko-KR" altLang="en-US" dirty="0" smtClean="0"/>
              <a:t>개라면 </a:t>
            </a:r>
            <a:r>
              <a:rPr lang="en-US" altLang="ko-KR" dirty="0"/>
              <a:t>hap =aa[0] +aa[1] +…aa[99]</a:t>
            </a:r>
            <a:r>
              <a:rPr lang="ko-KR" altLang="en-US" dirty="0"/>
              <a:t>로 일일이 </a:t>
            </a:r>
            <a:r>
              <a:rPr lang="ko-KR" altLang="en-US" dirty="0" smtClean="0"/>
              <a:t>코딩 하지 안고 </a:t>
            </a:r>
            <a:r>
              <a:rPr lang="en-US" altLang="ko-KR" dirty="0" smtClean="0"/>
              <a:t>9</a:t>
            </a:r>
            <a:r>
              <a:rPr lang="ko-KR" altLang="en-US" dirty="0" smtClean="0"/>
              <a:t>행을 </a:t>
            </a:r>
            <a:r>
              <a:rPr lang="en-US" altLang="ko-KR" dirty="0"/>
              <a:t>for</a:t>
            </a:r>
            <a:r>
              <a:rPr lang="ko-KR" altLang="en-US" dirty="0"/>
              <a:t>문으로 </a:t>
            </a:r>
            <a:r>
              <a:rPr lang="ko-KR" altLang="en-US" dirty="0" smtClean="0"/>
              <a:t>변경함</a:t>
            </a:r>
            <a:endParaRPr lang="en-US" altLang="ko-KR" dirty="0" smtClean="0"/>
          </a:p>
          <a:p>
            <a:pPr lvl="2"/>
            <a:endParaRPr lang="en-US" altLang="ko-KR" dirty="0"/>
          </a:p>
          <a:p>
            <a:pPr lvl="2"/>
            <a:endParaRPr lang="en-US" altLang="ko-KR" dirty="0" smtClean="0"/>
          </a:p>
          <a:p>
            <a:pPr lvl="2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ko-KR" altLang="en-US" dirty="0" smtClean="0"/>
              <a:t>리스트의 </a:t>
            </a:r>
            <a:r>
              <a:rPr lang="ko-KR" altLang="en-US" dirty="0"/>
              <a:t>생성과 초기화</a:t>
            </a:r>
            <a:endParaRPr lang="en-US" altLang="ko-KR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1"/>
            <a:ext cx="7335815" cy="807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1" y="3474005"/>
            <a:ext cx="7335814" cy="1385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82660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en-US" altLang="ko-KR" dirty="0" smtClean="0"/>
              <a:t> </a:t>
            </a:r>
            <a:r>
              <a:rPr lang="ko-KR" altLang="en-US" dirty="0"/>
              <a:t>콜론의 앞이나 뒤 </a:t>
            </a:r>
            <a:r>
              <a:rPr lang="ko-KR" altLang="en-US" dirty="0" smtClean="0"/>
              <a:t>숫자의 생략도 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r>
              <a:rPr lang="ko-KR" altLang="en-US" dirty="0" smtClean="0"/>
              <a:t>리스트끼리 더하기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곱하기 </a:t>
            </a:r>
            <a:r>
              <a:rPr lang="ko-KR" altLang="en-US" dirty="0"/>
              <a:t>연산도 </a:t>
            </a:r>
            <a:r>
              <a:rPr lang="ko-KR" altLang="en-US" dirty="0" smtClean="0"/>
              <a:t>가능</a:t>
            </a:r>
            <a:endParaRPr lang="en-US" altLang="ko-KR" dirty="0" smtClean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24" y="1313765"/>
            <a:ext cx="7771609" cy="1955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24" y="4247212"/>
            <a:ext cx="7830870" cy="2150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34278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(17)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리스트 조작 함수</a:t>
            </a:r>
            <a:endParaRPr lang="en-US" altLang="ko-KR" dirty="0" smtClean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625" y="1462428"/>
            <a:ext cx="7185852" cy="4860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927" y="992106"/>
            <a:ext cx="1021550" cy="468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29900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(18)</a:t>
            </a:r>
            <a:endParaRPr lang="ko-KR" alt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85" y="908720"/>
            <a:ext cx="6525725" cy="3780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387" y="4562247"/>
            <a:ext cx="5093214" cy="169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809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(19)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93662" indent="0">
              <a:buNone/>
            </a:pPr>
            <a:r>
              <a:rPr lang="en-US" altLang="ko-KR" dirty="0"/>
              <a:t> </a:t>
            </a:r>
            <a:endParaRPr lang="en-US" altLang="ko-KR" dirty="0" smtClean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2" y="3225744"/>
            <a:ext cx="7335815" cy="3113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967645"/>
            <a:ext cx="6490307" cy="2187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9587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5"/>
          <p:cNvSpPr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</p:spPr>
        <p:txBody>
          <a:bodyPr/>
          <a:lstStyle/>
          <a:p>
            <a:r>
              <a:rPr lang="ko-KR" altLang="en-US" spc="-150" dirty="0"/>
              <a:t>리스트에 </a:t>
            </a:r>
            <a:r>
              <a:rPr lang="ko-KR" altLang="en-US" spc="-150" smtClean="0"/>
              <a:t>대해 이해하기</a:t>
            </a:r>
            <a:endParaRPr lang="ko-KR" altLang="en-US" dirty="0"/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06515" y="638690"/>
            <a:ext cx="8009275" cy="5912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600" b="1" kern="1200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457200" indent="-457200">
              <a:buClr>
                <a:srgbClr val="4F784C"/>
              </a:buClr>
              <a:buFont typeface="Wingdings" panose="05000000000000000000" pitchFamily="2" charset="2"/>
              <a:buChar char="§"/>
            </a:pPr>
            <a:r>
              <a:rPr lang="en-US" altLang="ko-KR" smtClean="0"/>
              <a:t>List comprehension</a:t>
            </a:r>
            <a:endParaRPr lang="ko-KR" altLang="en-US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431540" y="1313765"/>
            <a:ext cx="8415935" cy="5041098"/>
          </a:xfrm>
          <a:prstGeom prst="rect">
            <a:avLst/>
          </a:prstGeom>
        </p:spPr>
        <p:txBody>
          <a:bodyPr rtlCol="0">
            <a:normAutofit fontScale="6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00206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mtClean="0"/>
              <a:t>리스트</a:t>
            </a:r>
            <a:r>
              <a:rPr lang="en-US" altLang="ko-KR" smtClean="0"/>
              <a:t> </a:t>
            </a:r>
            <a:r>
              <a:rPr lang="ko-KR" altLang="en-US" smtClean="0"/>
              <a:t>안에 반복문을 포함하여 리스트</a:t>
            </a:r>
            <a:r>
              <a:rPr lang="en-US" altLang="ko-KR" smtClean="0"/>
              <a:t> </a:t>
            </a:r>
            <a:r>
              <a:rPr lang="ko-KR" altLang="en-US" smtClean="0"/>
              <a:t>데이터를 표현하는 방법</a:t>
            </a:r>
            <a:endParaRPr lang="en-US" altLang="ko-KR" smtClean="0"/>
          </a:p>
          <a:p>
            <a:pPr>
              <a:lnSpc>
                <a:spcPct val="120000"/>
              </a:lnSpc>
              <a:buClr>
                <a:srgbClr val="00206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mtClean="0"/>
              <a:t>리스트를</a:t>
            </a:r>
            <a:r>
              <a:rPr lang="en-US" altLang="ko-KR" smtClean="0"/>
              <a:t> </a:t>
            </a:r>
            <a:r>
              <a:rPr lang="ko-KR" altLang="en-US" smtClean="0"/>
              <a:t>초기화할 때 매우 효과적</a:t>
            </a:r>
            <a:r>
              <a:rPr lang="en-US" altLang="ko-KR" smtClean="0"/>
              <a:t>(and </a:t>
            </a:r>
            <a:r>
              <a:rPr lang="ko-KR" altLang="en-US" smtClean="0"/>
              <a:t>속도 향상</a:t>
            </a:r>
            <a:r>
              <a:rPr lang="en-US" altLang="ko-KR" smtClean="0"/>
              <a:t>)</a:t>
            </a:r>
          </a:p>
          <a:p>
            <a:pPr>
              <a:lnSpc>
                <a:spcPct val="120000"/>
              </a:lnSpc>
              <a:buClr>
                <a:srgbClr val="002060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mtClean="0"/>
              <a:t>사용 예</a:t>
            </a:r>
            <a:r>
              <a:rPr lang="en-US" altLang="ko-KR" smtClean="0"/>
              <a:t>)</a:t>
            </a: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ko-KR" smtClean="0"/>
              <a:t>  num_list=[]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ko-KR" smtClean="0"/>
              <a:t>  for i in range(1, 11):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ko-KR" smtClean="0"/>
              <a:t>      num_list.append(i**2)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ko-KR" smtClean="0"/>
              <a:t>  print(num_list)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ko-KR" altLang="en-US" smtClean="0">
                <a:solidFill>
                  <a:srgbClr val="0070C0"/>
                </a:solidFill>
              </a:rPr>
              <a:t>  결과</a:t>
            </a:r>
            <a:r>
              <a:rPr lang="en-US" altLang="ko-KR" smtClean="0">
                <a:solidFill>
                  <a:srgbClr val="0070C0"/>
                </a:solidFill>
              </a:rPr>
              <a:t>) num_list=[1, 4, 9, 16, 25, 36, 49, 64, 81, 100]</a:t>
            </a: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ko-KR" smtClean="0"/>
              <a:t>  </a:t>
            </a:r>
            <a:r>
              <a:rPr lang="en-US" altLang="ko-KR" smtClean="0">
                <a:solidFill>
                  <a:srgbClr val="8C146D"/>
                </a:solidFill>
              </a:rPr>
              <a:t>num_list=[i**2 for i in range(1,11)]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ko-KR" smtClean="0">
                <a:solidFill>
                  <a:srgbClr val="8C146D"/>
                </a:solidFill>
              </a:rPr>
              <a:t>  print(num_list)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ko-KR" altLang="en-US" smtClean="0">
                <a:solidFill>
                  <a:srgbClr val="0070C0"/>
                </a:solidFill>
              </a:rPr>
              <a:t>  결과</a:t>
            </a:r>
            <a:r>
              <a:rPr lang="en-US" altLang="ko-KR" smtClean="0">
                <a:solidFill>
                  <a:srgbClr val="0070C0"/>
                </a:solidFill>
              </a:rPr>
              <a:t>) num_list=[1, 4, 9, 16, 25, 36, 49, 64, 81, 100]</a:t>
            </a:r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altLang="ko-KR" smtClean="0"/>
              <a:t>  </a:t>
            </a:r>
            <a:r>
              <a:rPr lang="en-US" altLang="ko-KR" smtClean="0">
                <a:solidFill>
                  <a:srgbClr val="8C146D"/>
                </a:solidFill>
              </a:rPr>
              <a:t>num_list=[i**2 for i in range(10) if i%2==0]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ko-KR" smtClean="0">
                <a:solidFill>
                  <a:srgbClr val="8C146D"/>
                </a:solidFill>
              </a:rPr>
              <a:t>  print(num_list)</a:t>
            </a:r>
          </a:p>
          <a:p>
            <a:pPr marL="457200" lvl="1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ko-KR" altLang="en-US" smtClean="0">
                <a:solidFill>
                  <a:srgbClr val="0070C0"/>
                </a:solidFill>
              </a:rPr>
              <a:t>  결과</a:t>
            </a:r>
            <a:r>
              <a:rPr lang="en-US" altLang="ko-KR" smtClean="0">
                <a:solidFill>
                  <a:srgbClr val="0070C0"/>
                </a:solidFill>
              </a:rPr>
              <a:t>) num_list=[0, 4, 16, 36, 64]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27719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47095" y="1088740"/>
            <a:ext cx="3666388" cy="16619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000" b="1" spc="-15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Chapter</a:t>
            </a:r>
            <a:r>
              <a:rPr lang="en-US" altLang="ko-KR" sz="40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 </a:t>
            </a:r>
            <a:r>
              <a:rPr lang="en-US" altLang="ko-KR" sz="6600" b="1" spc="-3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</a:rPr>
              <a:t>06</a:t>
            </a:r>
          </a:p>
          <a:p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프로그래밍</a:t>
            </a:r>
            <a:r>
              <a:rPr lang="en-US" altLang="ko-KR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lang="ko-KR" altLang="en-US" sz="3600" dirty="0" smtClean="0">
                <a:solidFill>
                  <a:srgbClr val="1F497D"/>
                </a:solidFill>
                <a:latin typeface="HY헤드라인M" pitchFamily="18" charset="-127"/>
                <a:ea typeface="HY헤드라인M" pitchFamily="18" charset="-127"/>
              </a:rPr>
              <a:t>함수</a:t>
            </a:r>
            <a:endParaRPr lang="ko-KR" altLang="en-US" sz="5400" b="1" spc="-300" dirty="0">
              <a:gradFill flip="none" rotWithShape="1">
                <a:gsLst>
                  <a:gs pos="0">
                    <a:srgbClr val="1F497D">
                      <a:lumMod val="75000"/>
                      <a:shade val="30000"/>
                      <a:satMod val="115000"/>
                    </a:srgbClr>
                  </a:gs>
                  <a:gs pos="50000">
                    <a:srgbClr val="1F497D">
                      <a:lumMod val="75000"/>
                      <a:shade val="67500"/>
                      <a:satMod val="115000"/>
                    </a:srgbClr>
                  </a:gs>
                  <a:gs pos="100000">
                    <a:srgbClr val="1F497D">
                      <a:lumMod val="75000"/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01421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함수의 </a:t>
            </a:r>
            <a:r>
              <a:rPr lang="ko-KR" altLang="en-US" dirty="0" smtClean="0"/>
              <a:t>개념 </a:t>
            </a:r>
            <a:endParaRPr lang="en-US" altLang="ko-KR" dirty="0" smtClean="0"/>
          </a:p>
          <a:p>
            <a:pPr lvl="1"/>
            <a:r>
              <a:rPr lang="ko-KR" altLang="en-US" dirty="0"/>
              <a:t>함수는 </a:t>
            </a:r>
            <a:r>
              <a:rPr lang="ko-KR" altLang="en-US" dirty="0" err="1" smtClean="0"/>
              <a:t>파이썬</a:t>
            </a:r>
            <a:r>
              <a:rPr lang="ko-KR" altLang="en-US" dirty="0" smtClean="0"/>
              <a:t> </a:t>
            </a:r>
            <a:r>
              <a:rPr lang="ko-KR" altLang="en-US" dirty="0"/>
              <a:t>프로그램 자체에서 제공하지만</a:t>
            </a:r>
            <a:r>
              <a:rPr lang="en-US" altLang="ko-KR" dirty="0"/>
              <a:t>, </a:t>
            </a:r>
            <a:r>
              <a:rPr lang="ko-KR" altLang="en-US" dirty="0"/>
              <a:t>사용자가 직접 만들어서 사용하기도 </a:t>
            </a:r>
            <a:r>
              <a:rPr lang="ko-KR" altLang="en-US" dirty="0" smtClean="0"/>
              <a:t>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자판기 없이 커피를 제공하는 프로그램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63" y="2372115"/>
            <a:ext cx="8427996" cy="3668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3730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93662" indent="0">
              <a:buNone/>
            </a:pPr>
            <a:r>
              <a:rPr lang="en-US" altLang="ko-KR" dirty="0" smtClean="0"/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816525"/>
            <a:ext cx="7419975" cy="574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0179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(3)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손님이 세 명 연속 올 경우 </a:t>
            </a:r>
            <a:r>
              <a:rPr lang="en-US" altLang="ko-KR" dirty="0"/>
              <a:t>[</a:t>
            </a:r>
            <a:r>
              <a:rPr lang="ko-KR" altLang="en-US" dirty="0"/>
              <a:t>소스코드 </a:t>
            </a:r>
            <a:r>
              <a:rPr lang="en-US" altLang="ko-KR" dirty="0"/>
              <a:t>9-1]</a:t>
            </a:r>
            <a:r>
              <a:rPr lang="ko-KR" altLang="en-US" dirty="0"/>
              <a:t>의 </a:t>
            </a:r>
            <a:r>
              <a:rPr lang="en-US" altLang="ko-KR" dirty="0"/>
              <a:t>3</a:t>
            </a:r>
            <a:r>
              <a:rPr lang="ko-KR" altLang="en-US" dirty="0"/>
              <a:t>행</a:t>
            </a:r>
            <a:r>
              <a:rPr lang="en-US" altLang="ko-KR" dirty="0"/>
              <a:t>~21</a:t>
            </a:r>
            <a:r>
              <a:rPr lang="ko-KR" altLang="en-US" dirty="0"/>
              <a:t>행을 두 번 더 </a:t>
            </a:r>
            <a:r>
              <a:rPr lang="ko-KR" altLang="en-US" dirty="0" smtClean="0"/>
              <a:t>반복 해야 함</a:t>
            </a:r>
            <a:r>
              <a:rPr lang="en-US" altLang="ko-KR" dirty="0" smtClean="0"/>
              <a:t>.</a:t>
            </a:r>
          </a:p>
          <a:p>
            <a:pPr marL="457200" lvl="1" indent="0">
              <a:buNone/>
            </a:pPr>
            <a:r>
              <a:rPr lang="en-US" altLang="ko-KR" dirty="0" smtClean="0"/>
              <a:t>  </a:t>
            </a:r>
            <a:r>
              <a:rPr lang="ko-KR" altLang="en-US" dirty="0" smtClean="0"/>
              <a:t>이럴 경우 소스가 길어지기 때문에 커피자판기 프로그램을 사용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 smtClean="0"/>
          </a:p>
          <a:p>
            <a:pPr marL="457200" lvl="1" indent="0">
              <a:buNone/>
            </a:pPr>
            <a:endParaRPr lang="en-US" altLang="ko-K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665" y="863715"/>
            <a:ext cx="6733660" cy="2155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6681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(4)</a:t>
            </a:r>
            <a:endParaRPr lang="ko-KR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52" y="1223756"/>
            <a:ext cx="8306908" cy="4140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68843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(5)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ko-KR" dirty="0"/>
              <a:t> </a:t>
            </a:r>
            <a:endParaRPr lang="en-US" altLang="ko-KR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34" y="998730"/>
            <a:ext cx="8633532" cy="5131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30372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(6)</a:t>
            </a:r>
            <a:endParaRPr lang="ko-KR" alt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65" y="990609"/>
            <a:ext cx="8184970" cy="5193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16136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spc="-150" dirty="0" smtClean="0"/>
              <a:t>(</a:t>
            </a:r>
            <a:r>
              <a:rPr lang="en-US" altLang="ko-KR" dirty="0" smtClean="0"/>
              <a:t>10)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두 정수를 </a:t>
            </a:r>
            <a:r>
              <a:rPr lang="ko-KR" altLang="en-US" dirty="0" smtClean="0"/>
              <a:t>입력 받아 </a:t>
            </a:r>
            <a:r>
              <a:rPr lang="ko-KR" altLang="en-US" dirty="0"/>
              <a:t>두 정수의 합계를 반환하는 </a:t>
            </a:r>
            <a:r>
              <a:rPr lang="en-US" altLang="ko-KR" dirty="0"/>
              <a:t>plus() </a:t>
            </a:r>
            <a:r>
              <a:rPr lang="ko-KR" altLang="en-US" dirty="0" smtClean="0"/>
              <a:t>함수 만들기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행</a:t>
            </a:r>
            <a:r>
              <a:rPr lang="en-US" altLang="ko-KR" dirty="0"/>
              <a:t>~5</a:t>
            </a:r>
            <a:r>
              <a:rPr lang="ko-KR" altLang="en-US" dirty="0"/>
              <a:t>행에 </a:t>
            </a:r>
            <a:r>
              <a:rPr lang="en-US" altLang="ko-KR" dirty="0"/>
              <a:t>plus() </a:t>
            </a:r>
            <a:r>
              <a:rPr lang="ko-KR" altLang="en-US" dirty="0"/>
              <a:t>함수를 </a:t>
            </a:r>
            <a:r>
              <a:rPr lang="ko-KR" altLang="en-US" dirty="0" smtClean="0"/>
              <a:t>정의하였으나 먼저 실행되지 않음</a:t>
            </a:r>
            <a:r>
              <a:rPr lang="en-US" altLang="ko-KR" dirty="0" smtClean="0"/>
              <a:t>. 11</a:t>
            </a:r>
            <a:r>
              <a:rPr lang="ko-KR" altLang="en-US" dirty="0" smtClean="0"/>
              <a:t>행에서 함수를 호출하면 그때 실행됨</a:t>
            </a:r>
            <a:endParaRPr lang="en-US" altLang="ko-KR" dirty="0" smtClean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36833"/>
            <a:ext cx="8164546" cy="4185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47304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(11)</a:t>
            </a:r>
            <a:endParaRPr lang="ko-KR" alt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94" y="974725"/>
            <a:ext cx="8353425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41969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pc="-150" dirty="0"/>
              <a:t>함수에 </a:t>
            </a:r>
            <a:r>
              <a:rPr lang="ko-KR" altLang="en-US" spc="-150" dirty="0" smtClean="0"/>
              <a:t>대해 알아봅시다</a:t>
            </a:r>
            <a:r>
              <a:rPr lang="en-US" altLang="ko-KR" dirty="0" smtClean="0"/>
              <a:t>(12)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ko-KR" dirty="0" smtClean="0"/>
              <a:t>① </a:t>
            </a:r>
            <a:r>
              <a:rPr lang="ko-KR" altLang="en-US" dirty="0"/>
              <a:t>함수 </a:t>
            </a:r>
            <a:r>
              <a:rPr lang="ko-KR" altLang="en-US" dirty="0" smtClean="0"/>
              <a:t>호출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/>
              <a:t>    plus() </a:t>
            </a:r>
            <a:r>
              <a:rPr lang="ko-KR" altLang="en-US" dirty="0"/>
              <a:t>함수를 호출할 때는 </a:t>
            </a:r>
            <a:r>
              <a:rPr lang="en-US" altLang="ko-KR" dirty="0"/>
              <a:t>plus(</a:t>
            </a:r>
            <a:r>
              <a:rPr lang="ko-KR" altLang="en-US" dirty="0"/>
              <a:t>숫자 </a:t>
            </a:r>
            <a:r>
              <a:rPr lang="en-US" altLang="ko-KR" dirty="0"/>
              <a:t>1, </a:t>
            </a:r>
            <a:r>
              <a:rPr lang="ko-KR" altLang="en-US" dirty="0"/>
              <a:t>숫자 </a:t>
            </a:r>
            <a:r>
              <a:rPr lang="en-US" altLang="ko-KR" dirty="0"/>
              <a:t>2)</a:t>
            </a:r>
            <a:r>
              <a:rPr lang="ko-KR" altLang="en-US" dirty="0"/>
              <a:t>와 같은 형식으로 </a:t>
            </a:r>
            <a:r>
              <a:rPr lang="ko-KR" altLang="en-US" dirty="0" smtClean="0"/>
              <a:t>호출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② 함수 실행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/>
              <a:t>    v1</a:t>
            </a:r>
            <a:r>
              <a:rPr lang="ko-KR" altLang="en-US" dirty="0"/>
              <a:t>과 </a:t>
            </a:r>
            <a:r>
              <a:rPr lang="en-US" altLang="ko-KR" dirty="0"/>
              <a:t>v2</a:t>
            </a:r>
            <a:r>
              <a:rPr lang="ko-KR" altLang="en-US" dirty="0"/>
              <a:t>를 더해 </a:t>
            </a:r>
            <a:r>
              <a:rPr lang="en-US" altLang="ko-KR" dirty="0"/>
              <a:t>result</a:t>
            </a:r>
            <a:r>
              <a:rPr lang="ko-KR" altLang="en-US" dirty="0"/>
              <a:t>에 대입한 후</a:t>
            </a:r>
            <a:r>
              <a:rPr lang="en-US" altLang="ko-KR" dirty="0"/>
              <a:t>, return result </a:t>
            </a:r>
            <a:r>
              <a:rPr lang="ko-KR" altLang="en-US" dirty="0"/>
              <a:t>문장에 의해 이 함수를 호출했던 </a:t>
            </a:r>
            <a:r>
              <a:rPr lang="ko-KR" altLang="en-US" dirty="0" smtClean="0"/>
              <a:t>곳  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en-US" altLang="ko-KR" dirty="0"/>
              <a:t> </a:t>
            </a:r>
            <a:r>
              <a:rPr lang="ko-KR" altLang="en-US" dirty="0" smtClean="0"/>
              <a:t>   </a:t>
            </a:r>
            <a:r>
              <a:rPr lang="en-US" altLang="ko-KR" dirty="0" smtClean="0"/>
              <a:t>(=</a:t>
            </a:r>
            <a:r>
              <a:rPr lang="en-US" altLang="ko-KR" dirty="0"/>
              <a:t>11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ko-KR" altLang="en-US" dirty="0" smtClean="0"/>
              <a:t>돌아감</a:t>
            </a:r>
            <a:endParaRPr lang="en-US" altLang="ko-KR" dirty="0" smtClean="0"/>
          </a:p>
          <a:p>
            <a:pPr marL="457200" lvl="1" indent="0">
              <a:buNone/>
            </a:pPr>
            <a:r>
              <a:rPr lang="ko-KR" altLang="en-US" dirty="0" smtClean="0"/>
              <a:t>③ 결과 </a:t>
            </a:r>
            <a:r>
              <a:rPr lang="ko-KR" altLang="en-US" dirty="0"/>
              <a:t>반환</a:t>
            </a:r>
          </a:p>
          <a:p>
            <a:pPr marL="457200" lvl="1" indent="0">
              <a:buNone/>
            </a:pPr>
            <a:r>
              <a:rPr lang="ko-KR" altLang="en-US" dirty="0" smtClean="0"/>
              <a:t>    함수를 </a:t>
            </a:r>
            <a:r>
              <a:rPr lang="ko-KR" altLang="en-US" dirty="0"/>
              <a:t>실행하여 얻은 </a:t>
            </a:r>
            <a:r>
              <a:rPr lang="en-US" altLang="ko-KR" dirty="0"/>
              <a:t>result</a:t>
            </a:r>
            <a:r>
              <a:rPr lang="ko-KR" altLang="en-US" dirty="0"/>
              <a:t>값</a:t>
            </a:r>
            <a:r>
              <a:rPr lang="en-US" altLang="ko-KR" dirty="0"/>
              <a:t>(300)</a:t>
            </a:r>
            <a:r>
              <a:rPr lang="ko-KR" altLang="en-US" dirty="0"/>
              <a:t>을 </a:t>
            </a:r>
            <a:r>
              <a:rPr lang="en-US" altLang="ko-KR" dirty="0"/>
              <a:t>plus() </a:t>
            </a:r>
            <a:r>
              <a:rPr lang="ko-KR" altLang="en-US" dirty="0"/>
              <a:t>함수를 호출했던 곳으로 </a:t>
            </a:r>
            <a:r>
              <a:rPr lang="ko-KR" altLang="en-US" dirty="0" smtClean="0"/>
              <a:t>돌려줌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 smtClean="0"/>
              <a:t>④ hap</a:t>
            </a:r>
            <a:r>
              <a:rPr lang="ko-KR" altLang="en-US" dirty="0"/>
              <a:t>에 </a:t>
            </a:r>
            <a:r>
              <a:rPr lang="ko-KR" altLang="en-US" dirty="0" err="1"/>
              <a:t>반환값</a:t>
            </a:r>
            <a:r>
              <a:rPr lang="ko-KR" altLang="en-US" dirty="0"/>
              <a:t> 대입</a:t>
            </a:r>
          </a:p>
          <a:p>
            <a:pPr marL="457200" lvl="1" indent="0">
              <a:buNone/>
            </a:pPr>
            <a:r>
              <a:rPr lang="ko-KR" altLang="en-US" dirty="0" smtClean="0"/>
              <a:t>    반환된 </a:t>
            </a:r>
            <a:r>
              <a:rPr lang="ko-KR" altLang="en-US" dirty="0"/>
              <a:t>값 </a:t>
            </a:r>
            <a:r>
              <a:rPr lang="en-US" altLang="ko-KR" dirty="0"/>
              <a:t>300</a:t>
            </a:r>
            <a:r>
              <a:rPr lang="ko-KR" altLang="en-US" dirty="0"/>
              <a:t>을 변수 </a:t>
            </a:r>
            <a:r>
              <a:rPr lang="en-US" altLang="ko-KR" dirty="0"/>
              <a:t>hap</a:t>
            </a:r>
            <a:r>
              <a:rPr lang="ko-KR" altLang="en-US" dirty="0"/>
              <a:t>에 </a:t>
            </a:r>
            <a:r>
              <a:rPr lang="ko-KR" altLang="en-US" dirty="0" smtClean="0"/>
              <a:t>대입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5289886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0pGGgPnhBmF6y66eBGwg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bBLBiWEQYdFTOe9rzf4UG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aA7ftul0JWsMpeaCqdWE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1852</TotalTime>
  <Words>1946</Words>
  <Application>Microsoft Office PowerPoint</Application>
  <PresentationFormat>화면 슬라이드 쇼(4:3)</PresentationFormat>
  <Paragraphs>391</Paragraphs>
  <Slides>71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71</vt:i4>
      </vt:variant>
    </vt:vector>
  </HeadingPairs>
  <TitlesOfParts>
    <vt:vector size="79" baseType="lpstr">
      <vt:lpstr>HY견명조</vt:lpstr>
      <vt:lpstr>HY헤드라인M</vt:lpstr>
      <vt:lpstr>맑은 고딕</vt:lpstr>
      <vt:lpstr>Batang</vt:lpstr>
      <vt:lpstr>Arial</vt:lpstr>
      <vt:lpstr>Verdana</vt:lpstr>
      <vt:lpstr>Wingdings</vt:lpstr>
      <vt:lpstr>Office 테마</vt:lpstr>
      <vt:lpstr>파이썬(Python) 기초</vt:lpstr>
      <vt:lpstr>PowerPoint 프레젠테이션</vt:lpstr>
      <vt:lpstr>print( )의 서식을 지정해봅시다(1)</vt:lpstr>
      <vt:lpstr>print( )의 서식을 지정해봅시다(2)</vt:lpstr>
      <vt:lpstr>print( )의 서식을 지정해봅시다(3)</vt:lpstr>
      <vt:lpstr>print( )의 서식을 지정해봅시다(5)</vt:lpstr>
      <vt:lpstr>print( )의 서식을 지정해봅시다(11)</vt:lpstr>
      <vt:lpstr>PowerPoint 프레젠테이션</vt:lpstr>
      <vt:lpstr>변수를 확실히 이해합시다(1)</vt:lpstr>
      <vt:lpstr>변수를 확실히 이해합시다(3)</vt:lpstr>
      <vt:lpstr>변수를 확실히 이해합시다(4)</vt:lpstr>
      <vt:lpstr>데이터 형식을 정리해봅시다(1)</vt:lpstr>
      <vt:lpstr>데이터 형식을 정리해봅시다(3)</vt:lpstr>
      <vt:lpstr>데이터 형식을 정리해봅시다(6)</vt:lpstr>
      <vt:lpstr>PowerPoint 프레젠테이션</vt:lpstr>
      <vt:lpstr>산술 연산자를 알아봅시다(1)</vt:lpstr>
      <vt:lpstr>산술 연산자를 알아봅시다(4)</vt:lpstr>
      <vt:lpstr>산술 연산자를 알아봅시다(7)</vt:lpstr>
      <vt:lpstr>관계 연산자를 알아봅시다(1)</vt:lpstr>
      <vt:lpstr>논리 연산자를 알아봅시다(2)</vt:lpstr>
      <vt:lpstr>문자열에 대해 알아봅시다(2)</vt:lpstr>
      <vt:lpstr>문자열에 대해 알아봅시다(3)</vt:lpstr>
      <vt:lpstr>문자열에 대해 알아봅시다(4)</vt:lpstr>
      <vt:lpstr>문자열 함수를 활용해봅시다(13)</vt:lpstr>
      <vt:lpstr>PowerPoint 프레젠테이션</vt:lpstr>
      <vt:lpstr>if문으로 참과 거짓을 가려봅시다 (1)</vt:lpstr>
      <vt:lpstr>if문으로 참과 거짓을 가려봅시다 (3)</vt:lpstr>
      <vt:lpstr>if문으로 참과 거짓을 가려봅시다 (4)</vt:lpstr>
      <vt:lpstr>if문으로 참과 거짓을 가려봅시다 (5)</vt:lpstr>
      <vt:lpstr>if문으로 참과 거짓을 가려봅시다 (6)</vt:lpstr>
      <vt:lpstr>if문으로 참과 거짓을 가려봅시다 (7)</vt:lpstr>
      <vt:lpstr>if문 안에 if문이 들어가면 어떻게 될까요?(1)</vt:lpstr>
      <vt:lpstr>if문 안에 if문이 들어가면 어떻게 될까요?(5)</vt:lpstr>
      <vt:lpstr>PowerPoint 프레젠테이션</vt:lpstr>
      <vt:lpstr>단순 for문으로 일거리를 줄여봅시다(1)</vt:lpstr>
      <vt:lpstr>단순 for문으로 일거리를 줄여봅시다(2)</vt:lpstr>
      <vt:lpstr>단순 for문으로 일거리를 줄여봅시다(3)</vt:lpstr>
      <vt:lpstr>단순 for문으로 일거리를 줄여봅시다(4)</vt:lpstr>
      <vt:lpstr>단순 for문으로 일거리를 줄여봅시다(5)</vt:lpstr>
      <vt:lpstr>for문 안에 for문이 들어가면 어떻게 될까요?(1)</vt:lpstr>
      <vt:lpstr>for문 안에 for문이 들어가면 어떻게 될까요?(2)</vt:lpstr>
      <vt:lpstr>for문 안에 for문이 들어가면 어떻게 될까요?(3)</vt:lpstr>
      <vt:lpstr>for문 안에 for문이 들어가면 어떻게 될까요?(6)</vt:lpstr>
      <vt:lpstr>for문 안에 for문이 들어가면 어떻게 될까요?(7)</vt:lpstr>
      <vt:lpstr>While문은 언제 사용할까요?(1)</vt:lpstr>
      <vt:lpstr>While문은 언제 사용할까요?(2)</vt:lpstr>
      <vt:lpstr>PowerPoint 프레젠테이션</vt:lpstr>
      <vt:lpstr>리스트에 대해 알아봅시다(1)</vt:lpstr>
      <vt:lpstr>리스트에 대해 알아봅시다(2)</vt:lpstr>
      <vt:lpstr>리스트에 대해 알아봅시다(3)</vt:lpstr>
      <vt:lpstr>리스트에 대해 알아봅시다(4)</vt:lpstr>
      <vt:lpstr>리스트에 대해 알아봅시다(5)</vt:lpstr>
      <vt:lpstr>리스트에 대해 알아봅시다(6)</vt:lpstr>
      <vt:lpstr>리스트에 대해 알아봅시다(7)</vt:lpstr>
      <vt:lpstr>리스트에 대해 알아봅시다(8)</vt:lpstr>
      <vt:lpstr>리스트에 대해 알아봅시다(9)</vt:lpstr>
      <vt:lpstr>리스트에 대해 알아봅시다(13)</vt:lpstr>
      <vt:lpstr>리스트에 대해 알아봅시다(17)</vt:lpstr>
      <vt:lpstr>리스트에 대해 알아봅시다(18)</vt:lpstr>
      <vt:lpstr>리스트에 대해 알아봅시다(19)</vt:lpstr>
      <vt:lpstr>리스트에 대해 이해하기</vt:lpstr>
      <vt:lpstr>PowerPoint 프레젠테이션</vt:lpstr>
      <vt:lpstr>함수에 대해 알아봅시다(1)</vt:lpstr>
      <vt:lpstr>함수에 대해 알아봅시다(2)</vt:lpstr>
      <vt:lpstr>함수에 대해 알아봅시다(3)</vt:lpstr>
      <vt:lpstr>함수에 대해 알아봅시다(4)</vt:lpstr>
      <vt:lpstr>함수에 대해 알아봅시다(5)</vt:lpstr>
      <vt:lpstr>함수에 대해 알아봅시다(6)</vt:lpstr>
      <vt:lpstr>함수에 대해 알아봅시다(10)</vt:lpstr>
      <vt:lpstr>함수에 대해 알아봅시다(11)</vt:lpstr>
      <vt:lpstr>함수에 대해 알아봅시다(12)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유닉스 개요 및 기본 사용법</dc:title>
  <dc:creator>한빛아카데미(주)</dc:creator>
  <cp:lastModifiedBy>파이데이아</cp:lastModifiedBy>
  <cp:revision>228</cp:revision>
  <dcterms:created xsi:type="dcterms:W3CDTF">2012-07-23T02:34:37Z</dcterms:created>
  <dcterms:modified xsi:type="dcterms:W3CDTF">2025-09-30T04:32:53Z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oogle.Documents.Tracking">
    <vt:lpwstr>true</vt:lpwstr>
  </property>
  <property fmtid="{D5CDD505-2E9C-101B-9397-08002B2CF9AE}" pid="3" name="Google.Documents.DocumentId">
    <vt:lpwstr>1NCUCeAsLTdgs0g0NVq39g0UxrcrxPknXzBwH4Bd9mpo</vt:lpwstr>
  </property>
  <property fmtid="{D5CDD505-2E9C-101B-9397-08002B2CF9AE}" pid="4" name="Google.Documents.RevisionId">
    <vt:lpwstr>16204708356322461875</vt:lpwstr>
  </property>
  <property fmtid="{D5CDD505-2E9C-101B-9397-08002B2CF9AE}" pid="5" name="Google.Documents.PreviousRevisionId">
    <vt:lpwstr>06215226093729447614</vt:lpwstr>
  </property>
  <property fmtid="{D5CDD505-2E9C-101B-9397-08002B2CF9AE}" pid="6" name="Google.Documents.PluginVersion">
    <vt:lpwstr>2.0.2662.553</vt:lpwstr>
  </property>
  <property fmtid="{D5CDD505-2E9C-101B-9397-08002B2CF9AE}" pid="7" name="Google.Documents.MergeIncapabilityFlags">
    <vt:i4>0</vt:i4>
  </property>
</Properties>
</file>